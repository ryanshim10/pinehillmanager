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room.posco.com/en/posco-named-lighthouse-factory-by-world-economic-forum/" TargetMode="External"/><Relationship Id="rId3" Type="http://schemas.openxmlformats.org/officeDocument/2006/relationships/hyperlink" Target="https://live.lge.co.kr/lg-wef-lighthousefactory/" TargetMode="External"/><Relationship Id="rId4" Type="http://schemas.openxmlformats.org/officeDocument/2006/relationships/hyperlink" Target="https://www.lsholdings.com/ko/media/news/385a523443424b4f5556485338745a73366346453871474d547866346b57776f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hyperlink" Target="https://esg.hd.com/en/news/575" TargetMode="External"/><Relationship Id="rId12" Type="http://schemas.openxmlformats.org/officeDocument/2006/relationships/hyperlink" Target="https://www.yna.co.kr/view/AKR20231220068100003" TargetMode="External"/><Relationship Id="rId13" Type="http://schemas.openxmlformats.org/officeDocument/2006/relationships/hyperlink" Target="https://www.newswire.co.kr/newsRead.php?no=1011496" TargetMode="External"/><Relationship Id="rId14" Type="http://schemas.openxmlformats.org/officeDocument/2006/relationships/hyperlink" Target="https://www.sidae.com/article/2026011315094821248" TargetMode="External"/><Relationship Id="rId15" Type="http://schemas.openxmlformats.org/officeDocument/2006/relationships/hyperlink" Target="https://www.industrynews.co.kr/news/articleView.html?idxno=36546" TargetMode="External"/><Relationship Id="rId16" Type="http://schemas.openxmlformats.org/officeDocument/2006/relationships/hyperlink" Target="https://www.hd.com/kr/business/machine/hyundai-robotics/contents" TargetMode="External"/><Relationship Id="rId17" Type="http://schemas.openxmlformats.org/officeDocument/2006/relationships/hyperlink" Target="https://www.industrynews.co.kr/news/articleView.html?idxno=53088" TargetMode="External"/><Relationship Id="rId18" Type="http://schemas.openxmlformats.org/officeDocument/2006/relationships/hyperlink" Target="https://www.hyundai-ce.com/ko/media/newsletter/view?detailsKey=1040" TargetMode="External"/><Relationship Id="rId19" Type="http://schemas.openxmlformats.org/officeDocument/2006/relationships/hyperlink" Target="https://hdhyundai-erc.com/elementor-407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hyperlink" Target="https://esg.hd.com/en/news/575" TargetMode="External"/><Relationship Id="rId4" Type="http://schemas.openxmlformats.org/officeDocument/2006/relationships/hyperlink" Target="https://www.yna.co.kr/view/AKR20231220068100003" TargetMode="External"/><Relationship Id="rId5" Type="http://schemas.openxmlformats.org/officeDocument/2006/relationships/hyperlink" Target="https://www.newswire.co.kr/newsRead.php?no=1011496" TargetMode="External"/><Relationship Id="rId6" Type="http://schemas.openxmlformats.org/officeDocument/2006/relationships/hyperlink" Target="https://www.sidae.com/article/2026011315094821248" TargetMode="External"/><Relationship Id="rId7" Type="http://schemas.openxmlformats.org/officeDocument/2006/relationships/hyperlink" Target="https://www.industrynews.co.kr/news/articleView.html?idxno=36546" TargetMode="External"/><Relationship Id="rId8" Type="http://schemas.openxmlformats.org/officeDocument/2006/relationships/hyperlink" Target="https://www.hd.com/kr/business/machine/hyundai-robotics/contents" TargetMode="External"/><Relationship Id="rId9" Type="http://schemas.openxmlformats.org/officeDocument/2006/relationships/hyperlink" Target="https://www.industrynews.co.kr/news/articleView.html?idxno=53088" TargetMode="External"/><Relationship Id="rId10" Type="http://schemas.openxmlformats.org/officeDocument/2006/relationships/hyperlink" Target="https://www.hyundai-ce.com/ko/media/newsletter/view?detailsKey=1040" TargetMode="External"/><Relationship Id="rId11" Type="http://schemas.openxmlformats.org/officeDocument/2006/relationships/hyperlink" Target="https://hdhyundai-erc.com/elementor-407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hyperlink" Target="https://www.doosan.com/en/media-center/press-release_view/?id=20172223&amp;page=3" TargetMode="External"/><Relationship Id="rId8" Type="http://schemas.openxmlformats.org/officeDocument/2006/relationships/hyperlink" Target="https://www.doosan.com/en/media-center/press-release_view?id=20172202" TargetMode="External"/><Relationship Id="rId9" Type="http://schemas.openxmlformats.org/officeDocument/2006/relationships/hyperlink" Target="https://www.mk.co.kr/news/special-edition/11019049" TargetMode="External"/><Relationship Id="rId10" Type="http://schemas.openxmlformats.org/officeDocument/2006/relationships/hyperlink" Target="https://www.doosan.com/en/intro/technology-innovation/" TargetMode="External"/><Relationship Id="rId11" Type="http://schemas.openxmlformats.org/officeDocument/2006/relationships/hyperlink" Target="https://www.doosandigitalinnovation.com/en/intro/histor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hyperlink" Target="https://www.doosan.com/en/media-center/press-release_view/?id=20172223&amp;page=3" TargetMode="External"/><Relationship Id="rId4" Type="http://schemas.openxmlformats.org/officeDocument/2006/relationships/hyperlink" Target="https://www.doosan.com/en/media-center/press-release_view?id=20172202" TargetMode="External"/><Relationship Id="rId5" Type="http://schemas.openxmlformats.org/officeDocument/2006/relationships/hyperlink" Target="https://www.mk.co.kr/news/special-edition/11019049" TargetMode="External"/><Relationship Id="rId6" Type="http://schemas.openxmlformats.org/officeDocument/2006/relationships/hyperlink" Target="https://www.doosan.com/en/intro/technology-innovation/" TargetMode="External"/><Relationship Id="rId7" Type="http://schemas.openxmlformats.org/officeDocument/2006/relationships/hyperlink" Target="https://www.doosandigitalinnovation.com/en/intro/histor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hyperlink" Target="https://www.doosan.com/en/media-center/press-release_view/?id=20172223&amp;page=3" TargetMode="External"/><Relationship Id="rId4" Type="http://schemas.openxmlformats.org/officeDocument/2006/relationships/hyperlink" Target="https://www.doosan.com/en/media-center/press-release_view?id=20172202" TargetMode="External"/><Relationship Id="rId5" Type="http://schemas.openxmlformats.org/officeDocument/2006/relationships/hyperlink" Target="https://www.mk.co.kr/news/special-edition/11019049" TargetMode="External"/><Relationship Id="rId6" Type="http://schemas.openxmlformats.org/officeDocument/2006/relationships/hyperlink" Target="https://www.doosan.com/en/intro/technology-innovation/" TargetMode="External"/><Relationship Id="rId7" Type="http://schemas.openxmlformats.org/officeDocument/2006/relationships/hyperlink" Target="https://www.doosandigitalinnovation.com/en/intro/histor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hyperlink" Target="https://www.doosan.com/en/media-center/press-release_view/?id=20172223&amp;page=3" TargetMode="External"/><Relationship Id="rId4" Type="http://schemas.openxmlformats.org/officeDocument/2006/relationships/hyperlink" Target="https://www.doosan.com/en/media-center/press-release_view?id=20172202" TargetMode="External"/><Relationship Id="rId5" Type="http://schemas.openxmlformats.org/officeDocument/2006/relationships/hyperlink" Target="https://www.mk.co.kr/news/special-edition/11019049" TargetMode="External"/><Relationship Id="rId6" Type="http://schemas.openxmlformats.org/officeDocument/2006/relationships/hyperlink" Target="https://www.doosan.com/en/intro/technology-innovation/" TargetMode="External"/><Relationship Id="rId7" Type="http://schemas.openxmlformats.org/officeDocument/2006/relationships/hyperlink" Target="https://www.doosandigitalinnovation.com/en/intro/histor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hyperlink" Target="https://www.doosan.com/en/media-center/press-release_view/?id=20172223&amp;page=3" TargetMode="External"/><Relationship Id="rId4" Type="http://schemas.openxmlformats.org/officeDocument/2006/relationships/hyperlink" Target="https://www.doosan.com/en/media-center/press-release_view?id=20172202" TargetMode="External"/><Relationship Id="rId5" Type="http://schemas.openxmlformats.org/officeDocument/2006/relationships/hyperlink" Target="https://www.mk.co.kr/news/special-edition/11019049" TargetMode="External"/><Relationship Id="rId6" Type="http://schemas.openxmlformats.org/officeDocument/2006/relationships/hyperlink" Target="https://www.doosan.com/en/intro/technology-innovation/" TargetMode="External"/><Relationship Id="rId7" Type="http://schemas.openxmlformats.org/officeDocument/2006/relationships/hyperlink" Target="https://www.doosandigitalinnovation.com/en/intro/histor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hyperlink" Target="https://www.doosan.com/en/media-center/press-release_view/?id=20172223&amp;page=3" TargetMode="External"/><Relationship Id="rId4" Type="http://schemas.openxmlformats.org/officeDocument/2006/relationships/hyperlink" Target="https://www.doosan.com/en/media-center/press-release_view?id=20172202" TargetMode="External"/><Relationship Id="rId5" Type="http://schemas.openxmlformats.org/officeDocument/2006/relationships/hyperlink" Target="https://www.mk.co.kr/news/special-edition/11019049" TargetMode="External"/><Relationship Id="rId6" Type="http://schemas.openxmlformats.org/officeDocument/2006/relationships/hyperlink" Target="https://www.doosan.com/en/intro/technology-innovation/" TargetMode="External"/><Relationship Id="rId7" Type="http://schemas.openxmlformats.org/officeDocument/2006/relationships/hyperlink" Target="https://www.doosandigitalinnovation.com/en/intro/histor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" Target="slide26.xml"/><Relationship Id="rId7" Type="http://schemas.openxmlformats.org/officeDocument/2006/relationships/slide" Target="slide27.xml"/><Relationship Id="rId8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9" Type="http://schemas.openxmlformats.org/officeDocument/2006/relationships/hyperlink" Target="https://www.hyundaimotorgroup.com/ko/story/CONT0000000000122310" TargetMode="External"/><Relationship Id="rId10" Type="http://schemas.openxmlformats.org/officeDocument/2006/relationships/hyperlink" Target="https://www.hyundai-autoever.com/kor/business-area/digital-transformation/smart-factory/contents.do?cntnSeq=352" TargetMode="External"/><Relationship Id="rId11" Type="http://schemas.openxmlformats.org/officeDocument/2006/relationships/hyperlink" Target="https://www.hyundai-autoever.com/eng/business-area/digital-transformation/smart-factory/contents.do?cntnSeq=372" TargetMode="External"/><Relationship Id="rId12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13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4" Type="http://schemas.openxmlformats.org/officeDocument/2006/relationships/hyperlink" Target="https://www.hyundaimotorgroup.com/ko/story/CONT0000000000122310" TargetMode="External"/><Relationship Id="rId5" Type="http://schemas.openxmlformats.org/officeDocument/2006/relationships/hyperlink" Target="https://www.hyundai-autoever.com/kor/business-area/digital-transformation/smart-factory/contents.do?cntnSeq=352" TargetMode="External"/><Relationship Id="rId6" Type="http://schemas.openxmlformats.org/officeDocument/2006/relationships/hyperlink" Target="https://www.hyundai-autoever.com/eng/business-area/digital-transformation/smart-factory/contents.do?cntnSeq=372" TargetMode="External"/><Relationship Id="rId7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8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4" Type="http://schemas.openxmlformats.org/officeDocument/2006/relationships/hyperlink" Target="https://www.hyundaimotorgroup.com/ko/story/CONT0000000000122310" TargetMode="External"/><Relationship Id="rId5" Type="http://schemas.openxmlformats.org/officeDocument/2006/relationships/hyperlink" Target="https://www.hyundai-autoever.com/kor/business-area/digital-transformation/smart-factory/contents.do?cntnSeq=352" TargetMode="External"/><Relationship Id="rId6" Type="http://schemas.openxmlformats.org/officeDocument/2006/relationships/hyperlink" Target="https://www.hyundai-autoever.com/eng/business-area/digital-transformation/smart-factory/contents.do?cntnSeq=372" TargetMode="External"/><Relationship Id="rId7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8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4" Type="http://schemas.openxmlformats.org/officeDocument/2006/relationships/hyperlink" Target="https://www.hyundaimotorgroup.com/ko/story/CONT0000000000122310" TargetMode="External"/><Relationship Id="rId5" Type="http://schemas.openxmlformats.org/officeDocument/2006/relationships/hyperlink" Target="https://www.hyundai-autoever.com/kor/business-area/digital-transformation/smart-factory/contents.do?cntnSeq=352" TargetMode="External"/><Relationship Id="rId6" Type="http://schemas.openxmlformats.org/officeDocument/2006/relationships/hyperlink" Target="https://www.hyundai-autoever.com/eng/business-area/digital-transformation/smart-factory/contents.do?cntnSeq=372" TargetMode="External"/><Relationship Id="rId7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8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4" Type="http://schemas.openxmlformats.org/officeDocument/2006/relationships/hyperlink" Target="https://www.hyundaimotorgroup.com/ko/story/CONT0000000000122310" TargetMode="External"/><Relationship Id="rId5" Type="http://schemas.openxmlformats.org/officeDocument/2006/relationships/hyperlink" Target="https://www.hyundai-autoever.com/kor/business-area/digital-transformation/smart-factory/contents.do?cntnSeq=352" TargetMode="External"/><Relationship Id="rId6" Type="http://schemas.openxmlformats.org/officeDocument/2006/relationships/hyperlink" Target="https://www.hyundai-autoever.com/eng/business-area/digital-transformation/smart-factory/contents.do?cntnSeq=372" TargetMode="External"/><Relationship Id="rId7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8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4" Type="http://schemas.openxmlformats.org/officeDocument/2006/relationships/hyperlink" Target="https://www.hyundaimotorgroup.com/ko/story/CONT0000000000122310" TargetMode="External"/><Relationship Id="rId5" Type="http://schemas.openxmlformats.org/officeDocument/2006/relationships/hyperlink" Target="https://www.hyundai-autoever.com/kor/business-area/digital-transformation/smart-factory/contents.do?cntnSeq=352" TargetMode="External"/><Relationship Id="rId6" Type="http://schemas.openxmlformats.org/officeDocument/2006/relationships/hyperlink" Target="https://www.hyundai-autoever.com/eng/business-area/digital-transformation/smart-factory/contents.do?cntnSeq=372" TargetMode="External"/><Relationship Id="rId7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8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Relationship Id="rId3" Type="http://schemas.openxmlformats.org/officeDocument/2006/relationships/hyperlink" Target="https://www.hyundai.com/worldwide/en/newsroom/detail/new-hyundai-motor-group-innovation-center-singapore-set-to-transform-production,-r&amp;d-and-customer-experience-0000000363" TargetMode="External"/><Relationship Id="rId4" Type="http://schemas.openxmlformats.org/officeDocument/2006/relationships/hyperlink" Target="https://www.hyundaimotorgroup.com/ko/story/CONT0000000000122310" TargetMode="External"/><Relationship Id="rId5" Type="http://schemas.openxmlformats.org/officeDocument/2006/relationships/hyperlink" Target="https://www.hyundai-autoever.com/kor/business-area/digital-transformation/smart-factory/contents.do?cntnSeq=352" TargetMode="External"/><Relationship Id="rId6" Type="http://schemas.openxmlformats.org/officeDocument/2006/relationships/hyperlink" Target="https://www.hyundai-autoever.com/eng/business-area/digital-transformation/smart-factory/contents.do?cntnSeq=372" TargetMode="External"/><Relationship Id="rId7" Type="http://schemas.openxmlformats.org/officeDocument/2006/relationships/hyperlink" Target="https://www.hyundai.com/worldwide/en/newsroom/detail/hyundai-motor-group-announces-nvidia-blackwell-ai-factory-to-power-fleet-of-ai-driven-mobility-solutions-0000001041" TargetMode="External"/><Relationship Id="rId8" Type="http://schemas.openxmlformats.org/officeDocument/2006/relationships/hyperlink" Target="https://www.hyundai.com/worldwide/en/newsroom/detail/hyundai-motor-and-unity-partner-to-build-meta-factory-accelerating-intelligent-manufacturing-innovation-0000000014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0.xml"/><Relationship Id="rId3" Type="http://schemas.openxmlformats.org/officeDocument/2006/relationships/slide" Target="slide31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hyperlink" Target="https://www.samsungsds.com/en/manufacturing/manufacturing.html" TargetMode="External"/><Relationship Id="rId8" Type="http://schemas.openxmlformats.org/officeDocument/2006/relationships/hyperlink" Target="https://www.samsungsds.com/kr/mes/nexplant-mes.html" TargetMode="External"/><Relationship Id="rId9" Type="http://schemas.openxmlformats.org/officeDocument/2006/relationships/hyperlink" Target="https://www.samsungsds.com/en/news/1241007_5252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hyperlink" Target="https://www.samsungsds.com/en/manufacturing/manufacturing.html" TargetMode="External"/><Relationship Id="rId4" Type="http://schemas.openxmlformats.org/officeDocument/2006/relationships/hyperlink" Target="https://www.samsungsds.com/kr/mes/nexplant-mes.html" TargetMode="External"/><Relationship Id="rId5" Type="http://schemas.openxmlformats.org/officeDocument/2006/relationships/hyperlink" Target="https://www.samsungsds.com/en/news/1241007_5252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hyperlink" Target="https://www.samsungsds.com/en/manufacturing/manufacturing.html" TargetMode="External"/><Relationship Id="rId4" Type="http://schemas.openxmlformats.org/officeDocument/2006/relationships/hyperlink" Target="https://www.samsungsds.com/kr/mes/nexplant-mes.html" TargetMode="External"/><Relationship Id="rId5" Type="http://schemas.openxmlformats.org/officeDocument/2006/relationships/hyperlink" Target="https://www.samsungsds.com/en/news/1241007_5252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hyperlink" Target="https://www.samsungsds.com/en/manufacturing/manufacturing.html" TargetMode="External"/><Relationship Id="rId4" Type="http://schemas.openxmlformats.org/officeDocument/2006/relationships/hyperlink" Target="https://www.samsungsds.com/kr/mes/nexplant-mes.html" TargetMode="External"/><Relationship Id="rId5" Type="http://schemas.openxmlformats.org/officeDocument/2006/relationships/hyperlink" Target="https://www.samsungsds.com/en/news/1241007_5252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hyperlink" Target="https://www.samsungsds.com/en/manufacturing/manufacturing.html" TargetMode="External"/><Relationship Id="rId4" Type="http://schemas.openxmlformats.org/officeDocument/2006/relationships/hyperlink" Target="https://www.samsungsds.com/kr/mes/nexplant-mes.html" TargetMode="External"/><Relationship Id="rId5" Type="http://schemas.openxmlformats.org/officeDocument/2006/relationships/hyperlink" Target="https://www.samsungsds.com/en/news/1241007_5252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hyperlink" Target="https://www.samsungsds.com/en/manufacturing/manufacturing.html" TargetMode="External"/><Relationship Id="rId4" Type="http://schemas.openxmlformats.org/officeDocument/2006/relationships/hyperlink" Target="https://www.samsungsds.com/kr/mes/nexplant-mes.html" TargetMode="External"/><Relationship Id="rId5" Type="http://schemas.openxmlformats.org/officeDocument/2006/relationships/hyperlink" Target="https://www.samsungsds.com/en/news/1241007_5252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Relationship Id="rId3" Type="http://schemas.openxmlformats.org/officeDocument/2006/relationships/slide" Target="slide38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1.xml"/><Relationship Id="rId7" Type="http://schemas.openxmlformats.org/officeDocument/2006/relationships/slide" Target="slide42.xml"/><Relationship Id="rId8" Type="http://schemas.openxmlformats.org/officeDocument/2006/relationships/hyperlink" Target="https://lgcorp.com/media/release/24625" TargetMode="External"/><Relationship Id="rId9" Type="http://schemas.openxmlformats.org/officeDocument/2006/relationships/hyperlink" Target="https://live.lge.co.kr/lg-wef-lighthousefactory/" TargetMode="External"/><Relationship Id="rId10" Type="http://schemas.openxmlformats.org/officeDocument/2006/relationships/hyperlink" Target="https://lg.co.kr/media/release/27907" TargetMode="External"/><Relationship Id="rId11" Type="http://schemas.openxmlformats.org/officeDocument/2006/relationships/hyperlink" Target="https://www.lgcns.com/en/service/smart-factory/manufacturing-execution-managemen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hyperlink" Target="https://lgcorp.com/media/release/24625" TargetMode="External"/><Relationship Id="rId4" Type="http://schemas.openxmlformats.org/officeDocument/2006/relationships/hyperlink" Target="https://live.lge.co.kr/lg-wef-lighthousefactory/" TargetMode="External"/><Relationship Id="rId5" Type="http://schemas.openxmlformats.org/officeDocument/2006/relationships/hyperlink" Target="https://lg.co.kr/media/release/27907" TargetMode="External"/><Relationship Id="rId6" Type="http://schemas.openxmlformats.org/officeDocument/2006/relationships/hyperlink" Target="https://www.lgcns.com/en/service/smart-factory/manufacturing-execution-managemen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hyperlink" Target="https://lgcorp.com/media/release/24625" TargetMode="External"/><Relationship Id="rId4" Type="http://schemas.openxmlformats.org/officeDocument/2006/relationships/hyperlink" Target="https://live.lge.co.kr/lg-wef-lighthousefactory/" TargetMode="External"/><Relationship Id="rId5" Type="http://schemas.openxmlformats.org/officeDocument/2006/relationships/hyperlink" Target="https://lg.co.kr/media/release/27907" TargetMode="External"/><Relationship Id="rId6" Type="http://schemas.openxmlformats.org/officeDocument/2006/relationships/hyperlink" Target="https://www.lgcns.com/en/service/smart-factory/manufacturing-execution-managemen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hyperlink" Target="https://lgcorp.com/media/release/24625" TargetMode="External"/><Relationship Id="rId4" Type="http://schemas.openxmlformats.org/officeDocument/2006/relationships/hyperlink" Target="https://live.lge.co.kr/lg-wef-lighthousefactory/" TargetMode="External"/><Relationship Id="rId5" Type="http://schemas.openxmlformats.org/officeDocument/2006/relationships/hyperlink" Target="https://lg.co.kr/media/release/27907" TargetMode="External"/><Relationship Id="rId6" Type="http://schemas.openxmlformats.org/officeDocument/2006/relationships/hyperlink" Target="https://www.lgcns.com/en/service/smart-factory/manufacturing-execution-management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hyperlink" Target="https://lgcorp.com/media/release/24625" TargetMode="External"/><Relationship Id="rId4" Type="http://schemas.openxmlformats.org/officeDocument/2006/relationships/hyperlink" Target="https://live.lge.co.kr/lg-wef-lighthousefactory/" TargetMode="External"/><Relationship Id="rId5" Type="http://schemas.openxmlformats.org/officeDocument/2006/relationships/hyperlink" Target="https://lg.co.kr/media/release/27907" TargetMode="External"/><Relationship Id="rId6" Type="http://schemas.openxmlformats.org/officeDocument/2006/relationships/hyperlink" Target="https://www.lgcns.com/en/service/smart-factory/manufacturing-execution-management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hyperlink" Target="https://lgcorp.com/media/release/24625" TargetMode="External"/><Relationship Id="rId4" Type="http://schemas.openxmlformats.org/officeDocument/2006/relationships/hyperlink" Target="https://live.lge.co.kr/lg-wef-lighthousefactory/" TargetMode="External"/><Relationship Id="rId5" Type="http://schemas.openxmlformats.org/officeDocument/2006/relationships/hyperlink" Target="https://lg.co.kr/media/release/27907" TargetMode="External"/><Relationship Id="rId6" Type="http://schemas.openxmlformats.org/officeDocument/2006/relationships/hyperlink" Target="https://www.lgcns.com/en/service/smart-factory/manufacturing-execution-management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hyperlink" Target="https://lgcorp.com/media/release/24625" TargetMode="External"/><Relationship Id="rId4" Type="http://schemas.openxmlformats.org/officeDocument/2006/relationships/hyperlink" Target="https://live.lge.co.kr/lg-wef-lighthousefactory/" TargetMode="External"/><Relationship Id="rId5" Type="http://schemas.openxmlformats.org/officeDocument/2006/relationships/hyperlink" Target="https://lg.co.kr/media/release/27907" TargetMode="External"/><Relationship Id="rId6" Type="http://schemas.openxmlformats.org/officeDocument/2006/relationships/hyperlink" Target="https://www.lgcns.com/en/service/smart-factory/manufacturing-execution-management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5.xml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hyperlink" Target="https://eng.sk.com/news/sk-accelerates-ai-transformation-in-manufacturing-with-ai-factory-powered-by-nvidia" TargetMode="External"/><Relationship Id="rId6" Type="http://schemas.openxmlformats.org/officeDocument/2006/relationships/hyperlink" Target="https://www.skax.co.kr/manufacturing" TargetMode="External"/><Relationship Id="rId7" Type="http://schemas.openxmlformats.org/officeDocument/2006/relationships/hyperlink" Target="https://www.skax.co.kr/en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hyperlink" Target="https://eng.sk.com/news/sk-accelerates-ai-transformation-in-manufacturing-with-ai-factory-powered-by-nvidia" TargetMode="External"/><Relationship Id="rId4" Type="http://schemas.openxmlformats.org/officeDocument/2006/relationships/hyperlink" Target="https://www.skax.co.kr/manufacturing" TargetMode="External"/><Relationship Id="rId5" Type="http://schemas.openxmlformats.org/officeDocument/2006/relationships/hyperlink" Target="https://www.skax.co.kr/en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hyperlink" Target="https://eng.sk.com/news/sk-accelerates-ai-transformation-in-manufacturing-with-ai-factory-powered-by-nvidia" TargetMode="External"/><Relationship Id="rId4" Type="http://schemas.openxmlformats.org/officeDocument/2006/relationships/hyperlink" Target="https://www.skax.co.kr/manufacturing" TargetMode="External"/><Relationship Id="rId5" Type="http://schemas.openxmlformats.org/officeDocument/2006/relationships/hyperlink" Target="https://www.skax.co.kr/en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hyperlink" Target="https://eng.sk.com/news/sk-accelerates-ai-transformation-in-manufacturing-with-ai-factory-powered-by-nvidia" TargetMode="External"/><Relationship Id="rId4" Type="http://schemas.openxmlformats.org/officeDocument/2006/relationships/hyperlink" Target="https://www.skax.co.kr/manufacturing" TargetMode="External"/><Relationship Id="rId5" Type="http://schemas.openxmlformats.org/officeDocument/2006/relationships/hyperlink" Target="https://www.skax.co.kr/en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0.xml"/><Relationship Id="rId3" Type="http://schemas.openxmlformats.org/officeDocument/2006/relationships/slide" Target="slide51.xml"/><Relationship Id="rId4" Type="http://schemas.openxmlformats.org/officeDocument/2006/relationships/slide" Target="slide52.xml"/><Relationship Id="rId5" Type="http://schemas.openxmlformats.org/officeDocument/2006/relationships/slide" Target="slide53.xml"/><Relationship Id="rId6" Type="http://schemas.openxmlformats.org/officeDocument/2006/relationships/slide" Target="slide54.xml"/><Relationship Id="rId7" Type="http://schemas.openxmlformats.org/officeDocument/2006/relationships/hyperlink" Target="https://newsroom.posco.com/en/south-koreas-president-jae-in-moon-visits-posco-the-lighthouse-factory/" TargetMode="External"/><Relationship Id="rId8" Type="http://schemas.openxmlformats.org/officeDocument/2006/relationships/hyperlink" Target="https://newsroom.posco.com/en/posco-named-lighthouse-factory-by-world-economic-forum/" TargetMode="External"/><Relationship Id="rId9" Type="http://schemas.openxmlformats.org/officeDocument/2006/relationships/hyperlink" Target="https://www.poscodx.com/kor/business/smartFactory" TargetMode="External"/><Relationship Id="rId10" Type="http://schemas.openxmlformats.org/officeDocument/2006/relationships/hyperlink" Target="https://newsroom.posco.com/kr/%EB%93%B1%EB%8C%80%EA%B3%B5%EC%9E%A5-%ED%8A%B9%EC%A7%91-2-%EC%82%AC%EB%A1%80%ED%8E%B8/" TargetMode="External"/><Relationship Id="rId11" Type="http://schemas.openxmlformats.org/officeDocument/2006/relationships/hyperlink" Target="https://www.poscodx.com/eng/business/smartFactory" TargetMode="External"/><Relationship Id="rId12" Type="http://schemas.openxmlformats.org/officeDocument/2006/relationships/hyperlink" Target="https://www.poscodx.com/eng/pr/newsRoomView.do?num=7080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hyperlink" Target="https://newsroom.posco.com/en/south-koreas-president-jae-in-moon-visits-posco-the-lighthouse-factory/" TargetMode="External"/><Relationship Id="rId4" Type="http://schemas.openxmlformats.org/officeDocument/2006/relationships/hyperlink" Target="https://newsroom.posco.com/en/posco-named-lighthouse-factory-by-world-economic-forum/" TargetMode="External"/><Relationship Id="rId5" Type="http://schemas.openxmlformats.org/officeDocument/2006/relationships/hyperlink" Target="https://www.poscodx.com/kor/business/smartFactory" TargetMode="External"/><Relationship Id="rId6" Type="http://schemas.openxmlformats.org/officeDocument/2006/relationships/hyperlink" Target="https://newsroom.posco.com/kr/%EB%93%B1%EB%8C%80%EA%B3%B5%EC%9E%A5-%ED%8A%B9%EC%A7%91-2-%EC%82%AC%EB%A1%80%ED%8E%B8/" TargetMode="External"/><Relationship Id="rId7" Type="http://schemas.openxmlformats.org/officeDocument/2006/relationships/hyperlink" Target="https://www.poscodx.com/eng/business/smartFactory" TargetMode="External"/><Relationship Id="rId8" Type="http://schemas.openxmlformats.org/officeDocument/2006/relationships/hyperlink" Target="https://www.poscodx.com/eng/pr/newsRoomView.do?num=7080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hyperlink" Target="https://newsroom.posco.com/en/south-koreas-president-jae-in-moon-visits-posco-the-lighthouse-factory/" TargetMode="External"/><Relationship Id="rId4" Type="http://schemas.openxmlformats.org/officeDocument/2006/relationships/hyperlink" Target="https://newsroom.posco.com/en/posco-named-lighthouse-factory-by-world-economic-forum/" TargetMode="External"/><Relationship Id="rId5" Type="http://schemas.openxmlformats.org/officeDocument/2006/relationships/hyperlink" Target="https://www.poscodx.com/kor/business/smartFactory" TargetMode="External"/><Relationship Id="rId6" Type="http://schemas.openxmlformats.org/officeDocument/2006/relationships/hyperlink" Target="https://newsroom.posco.com/kr/%EB%93%B1%EB%8C%80%EA%B3%B5%EC%9E%A5-%ED%8A%B9%EC%A7%91-2-%EC%82%AC%EB%A1%80%ED%8E%B8/" TargetMode="External"/><Relationship Id="rId7" Type="http://schemas.openxmlformats.org/officeDocument/2006/relationships/hyperlink" Target="https://www.poscodx.com/eng/business/smartFactory" TargetMode="External"/><Relationship Id="rId8" Type="http://schemas.openxmlformats.org/officeDocument/2006/relationships/hyperlink" Target="https://www.poscodx.com/eng/pr/newsRoomView.do?num=7080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hyperlink" Target="https://newsroom.posco.com/en/south-koreas-president-jae-in-moon-visits-posco-the-lighthouse-factory/" TargetMode="External"/><Relationship Id="rId4" Type="http://schemas.openxmlformats.org/officeDocument/2006/relationships/hyperlink" Target="https://newsroom.posco.com/en/posco-named-lighthouse-factory-by-world-economic-forum/" TargetMode="External"/><Relationship Id="rId5" Type="http://schemas.openxmlformats.org/officeDocument/2006/relationships/hyperlink" Target="https://www.poscodx.com/kor/business/smartFactory" TargetMode="External"/><Relationship Id="rId6" Type="http://schemas.openxmlformats.org/officeDocument/2006/relationships/hyperlink" Target="https://newsroom.posco.com/kr/%EB%93%B1%EB%8C%80%EA%B3%B5%EC%9E%A5-%ED%8A%B9%EC%A7%91-2-%EC%82%AC%EB%A1%80%ED%8E%B8/" TargetMode="External"/><Relationship Id="rId7" Type="http://schemas.openxmlformats.org/officeDocument/2006/relationships/hyperlink" Target="https://www.poscodx.com/eng/business/smartFactory" TargetMode="External"/><Relationship Id="rId8" Type="http://schemas.openxmlformats.org/officeDocument/2006/relationships/hyperlink" Target="https://www.poscodx.com/eng/pr/newsRoomView.do?num=7080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hyperlink" Target="https://newsroom.posco.com/en/south-koreas-president-jae-in-moon-visits-posco-the-lighthouse-factory/" TargetMode="External"/><Relationship Id="rId4" Type="http://schemas.openxmlformats.org/officeDocument/2006/relationships/hyperlink" Target="https://newsroom.posco.com/en/posco-named-lighthouse-factory-by-world-economic-forum/" TargetMode="External"/><Relationship Id="rId5" Type="http://schemas.openxmlformats.org/officeDocument/2006/relationships/hyperlink" Target="https://www.poscodx.com/kor/business/smartFactory" TargetMode="External"/><Relationship Id="rId6" Type="http://schemas.openxmlformats.org/officeDocument/2006/relationships/hyperlink" Target="https://newsroom.posco.com/kr/%EB%93%B1%EB%8C%80%EA%B3%B5%EC%9E%A5-%ED%8A%B9%EC%A7%91-2-%EC%82%AC%EB%A1%80%ED%8E%B8/" TargetMode="External"/><Relationship Id="rId7" Type="http://schemas.openxmlformats.org/officeDocument/2006/relationships/hyperlink" Target="https://www.poscodx.com/eng/business/smartFactory" TargetMode="External"/><Relationship Id="rId8" Type="http://schemas.openxmlformats.org/officeDocument/2006/relationships/hyperlink" Target="https://www.poscodx.com/eng/pr/newsRoomView.do?num=7080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hyperlink" Target="https://newsroom.posco.com/en/south-koreas-president-jae-in-moon-visits-posco-the-lighthouse-factory/" TargetMode="External"/><Relationship Id="rId4" Type="http://schemas.openxmlformats.org/officeDocument/2006/relationships/hyperlink" Target="https://newsroom.posco.com/en/posco-named-lighthouse-factory-by-world-economic-forum/" TargetMode="External"/><Relationship Id="rId5" Type="http://schemas.openxmlformats.org/officeDocument/2006/relationships/hyperlink" Target="https://www.poscodx.com/kor/business/smartFactory" TargetMode="External"/><Relationship Id="rId6" Type="http://schemas.openxmlformats.org/officeDocument/2006/relationships/hyperlink" Target="https://newsroom.posco.com/kr/%EB%93%B1%EB%8C%80%EA%B3%B5%EC%9E%A5-%ED%8A%B9%EC%A7%91-2-%EC%82%AC%EB%A1%80%ED%8E%B8/" TargetMode="External"/><Relationship Id="rId7" Type="http://schemas.openxmlformats.org/officeDocument/2006/relationships/hyperlink" Target="https://www.poscodx.com/eng/business/smartFactory" TargetMode="External"/><Relationship Id="rId8" Type="http://schemas.openxmlformats.org/officeDocument/2006/relationships/hyperlink" Target="https://www.poscodx.com/eng/pr/newsRoomView.do?num=7080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7.xml"/><Relationship Id="rId3" Type="http://schemas.openxmlformats.org/officeDocument/2006/relationships/slide" Target="slide58.xml"/><Relationship Id="rId4" Type="http://schemas.openxmlformats.org/officeDocument/2006/relationships/slide" Target="slide59.xml"/><Relationship Id="rId5" Type="http://schemas.openxmlformats.org/officeDocument/2006/relationships/slide" Target="slide60.xml"/><Relationship Id="rId6" Type="http://schemas.openxmlformats.org/officeDocument/2006/relationships/hyperlink" Target="https://www.microsoft.com/en/customers/story/1787232539191932705-ls-electric-microsoft-cloud-for-manufacturing-discrete-manufacturing-en-korea" TargetMode="External"/><Relationship Id="rId7" Type="http://schemas.openxmlformats.org/officeDocument/2006/relationships/hyperlink" Target="https://www3.weforum.org/docs/WEF_Global_Lighthouse_Network_Unlocking_Sustainability_Through_4IR.pdf" TargetMode="External"/><Relationship Id="rId8" Type="http://schemas.openxmlformats.org/officeDocument/2006/relationships/hyperlink" Target="https://www.lsholdings.com/ko/media/news/385a523443424b4f5556485338745a73366346453871474d547866346b57776f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6.xml"/><Relationship Id="rId3" Type="http://schemas.openxmlformats.org/officeDocument/2006/relationships/hyperlink" Target="https://www.microsoft.com/en/customers/story/1787232539191932705-ls-electric-microsoft-cloud-for-manufacturing-discrete-manufacturing-en-korea" TargetMode="External"/><Relationship Id="rId4" Type="http://schemas.openxmlformats.org/officeDocument/2006/relationships/hyperlink" Target="https://www3.weforum.org/docs/WEF_Global_Lighthouse_Network_Unlocking_Sustainability_Through_4IR.pdf" TargetMode="External"/><Relationship Id="rId5" Type="http://schemas.openxmlformats.org/officeDocument/2006/relationships/hyperlink" Target="https://www.lsholdings.com/ko/media/news/385a523443424b4f5556485338745a73366346453871474d547866346b57776f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6.xml"/><Relationship Id="rId3" Type="http://schemas.openxmlformats.org/officeDocument/2006/relationships/hyperlink" Target="https://www.microsoft.com/en/customers/story/1787232539191932705-ls-electric-microsoft-cloud-for-manufacturing-discrete-manufacturing-en-korea" TargetMode="External"/><Relationship Id="rId4" Type="http://schemas.openxmlformats.org/officeDocument/2006/relationships/hyperlink" Target="https://www3.weforum.org/docs/WEF_Global_Lighthouse_Network_Unlocking_Sustainability_Through_4IR.pdf" TargetMode="External"/><Relationship Id="rId5" Type="http://schemas.openxmlformats.org/officeDocument/2006/relationships/hyperlink" Target="https://www.lsholdings.com/ko/media/news/385a523443424b4f5556485338745a73366346453871474d547866346b57776f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6.xml"/><Relationship Id="rId3" Type="http://schemas.openxmlformats.org/officeDocument/2006/relationships/hyperlink" Target="https://www.microsoft.com/en/customers/story/1787232539191932705-ls-electric-microsoft-cloud-for-manufacturing-discrete-manufacturing-en-korea" TargetMode="External"/><Relationship Id="rId4" Type="http://schemas.openxmlformats.org/officeDocument/2006/relationships/hyperlink" Target="https://www3.weforum.org/docs/WEF_Global_Lighthouse_Network_Unlocking_Sustainability_Through_4IR.pdf" TargetMode="External"/><Relationship Id="rId5" Type="http://schemas.openxmlformats.org/officeDocument/2006/relationships/hyperlink" Target="https://www.lsholdings.com/ko/media/news/385a523443424b4f5556485338745a73366346453871474d547866346b57776f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6.xml"/><Relationship Id="rId3" Type="http://schemas.openxmlformats.org/officeDocument/2006/relationships/hyperlink" Target="https://www.microsoft.com/en/customers/story/1787232539191932705-ls-electric-microsoft-cloud-for-manufacturing-discrete-manufacturing-en-korea" TargetMode="External"/><Relationship Id="rId4" Type="http://schemas.openxmlformats.org/officeDocument/2006/relationships/hyperlink" Target="https://www3.weforum.org/docs/WEF_Global_Lighthouse_Network_Unlocking_Sustainability_Through_4IR.pdf" TargetMode="External"/><Relationship Id="rId5" Type="http://schemas.openxmlformats.org/officeDocument/2006/relationships/hyperlink" Target="https://www.lsholdings.com/ko/media/news/385a523443424b4f5556485338745a73366346453871474d547866346b57776f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Smart Factory Solution Map — DENSE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AF2FF"/>
                </a:solidFill>
              </a:defRPr>
            </a:pPr>
            <a:r>
              <a:t>8개 그룹 | 16칸 요약 → 클릭하면 상세 슬라이드 | KPI(P/Q/A/E)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WEF 등대공장 — 기준/목표/확산 프레임 (내부 브리핑)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3484778" cy="52120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30275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선정 기준(4요소)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2757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기술(4IR Tech) 적용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성과(Impact) — KPI 개선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스케일(Replicability) — 복제 가능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운영체계(사람/프로세스/데이터 거버넌스)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3458" y="914400"/>
            <a:ext cx="3484778" cy="52120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2058" y="1097280"/>
            <a:ext cx="30275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KPI 4대 축(P/Q/A/E)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2058" y="1645920"/>
            <a:ext cx="302757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P 생산성/리드타임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Q 품질(불량/재작업)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A 설비(OEE/다운타임/예지)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E 에너지/ESG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6836" y="914400"/>
            <a:ext cx="3484778" cy="52120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5436" y="1097280"/>
            <a:ext cx="302757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확산 레이어(How)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5436" y="1645920"/>
            <a:ext cx="302757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t>• Use-case 복제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Platform 확산(MES+데이터)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Operating model 확산(런북/RACI)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• Ecosystem 확산(협력사/SME)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2"/>
              </a:rPr>
              <a:t>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3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4"/>
              </a:rPr>
              <a:t>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Dense Matrix (summary → click for detail)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(HD현대 공식 사업소개) H!Factory를 ‘공장 내 모든 생산장비를 연결해 데이터 취합·분석·관리 + ERP/MES 연동’하는 통합플랫폼으로 소개.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(뉴스와이어, 2025) HD현대건설기계는 울산 캠퍼스를 스마트팩토리로 탈바꿈시키며 전 공정에 ‘제품 실시간 위치추적 시스템’을 도입해 공정 흐름 최적화, 용접 로봇/비전 센서, AGV, AI 기반 품질검사 도입을 서술.</a:t>
            </a:r>
          </a:p>
        </p:txBody>
      </p:sp>
      <p:sp>
        <p:nvSpPr>
          <p:cNvPr id="13" name="Rectangle 12">
            <a:hlinkClick action="ppaction://hlinksldjump" r:id="rId4"/>
          </p:cNvPr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(ICT/통신) **KT** — 현대로보틱스와 5G/AI/클라우드 등 협력(기사 서술)</a:t>
            </a:r>
          </a:p>
        </p:txBody>
      </p:sp>
      <p:sp>
        <p:nvSpPr>
          <p:cNvPr id="16" name="Rectangle 15">
            <a:hlinkClick action="ppaction://hlinksldjump" r:id="rId5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(연합뉴스, 2023) HD현대는 조선 ‘미래 첨단 조선소(FOS)’ 프로젝트 1단계 목표인 ‘눈에 보이는 조선소’ 구축을 완료했다고 밝힘.</a:t>
            </a:r>
          </a:p>
        </p:txBody>
      </p:sp>
      <p:sp>
        <p:nvSpPr>
          <p:cNvPr id="19" name="Rectangle 18">
            <a:hlinkClick action="ppaction://hlinksldjump" r:id="rId6"/>
          </p:cNvPr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기사) HD현대는 2026년까지 2단계 ‘연결-예측 최적화된 조선소’, 2030년까지 3단계 ‘지능형 자율 운영 조선소’ 구축 계획을 제시.</a:t>
            </a:r>
          </a:p>
        </p:txBody>
      </p:sp>
      <p:sp>
        <p:nvSpPr>
          <p:cNvPr id="22" name="Rectangle 21">
            <a:hlinkClick action="ppaction://hlinksldjump" r:id="rId7"/>
          </p:cNvPr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 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(인더스트리뉴스, 2024) 다쏘시스템- HD현대중공업- HD한국조선해양이 **버추얼 트윈 기반 설계-생산 일원화 통합 플랫폼 구축**을 위한 전략적 협력을 했다고 보도.</a:t>
            </a:r>
          </a:p>
        </p:txBody>
      </p:sp>
      <p:sp>
        <p:nvSpPr>
          <p:cNvPr id="25" name="Rectangle 24">
            <a:hlinkClick action="ppaction://hlinksldjump" r:id="rId8"/>
          </p:cNvPr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(동행미디어 시대/머니S 재인용, 2026) HD건설기계와 HD현대로보틱스가 ‘생산공정 자동화 및 스마트팩토리 구축’ MOU를 체결했으며, HD현대로보틱스가 **강소 생산공장/인도공장/울산 신공장** 등에 자동 용접 솔루션 제작·적용을 한다고 서술.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1" name="Rectangle 30">
            <a:hlinkClick action="ppaction://hlinksldjump" r:id="rId9"/>
          </p:cNvPr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 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(HD ESG 뉴스, 2022-04-06) Future of Shipyard(FOS) 프로젝트가 2030년까지 스마트 조선소 전환을 목표로 하며, 기대 효과로 생산성 30% 증가, 리드타임 30% 개선(=단축), 자원 낭비 0을 제시.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>
            <a:hlinkClick action="ppaction://hlinksldjump" r:id="rId10"/>
          </p:cNvPr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 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기사) HD현대는 2030년까지 FOS 프로젝트를 완료해 **생산성 30% 향상, 공기 30% 단축** 목표를 언급.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11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12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13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14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15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16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17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8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9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MES/PLM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(HD현대 공식 사업소개) H!Factory를 ‘공장 내 모든 생산장비를 연결해 데이터 취합·분석·관리 + ERP/MES 연동’하는 통합플랫폼으로 소개.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문서) 현대건설기계는 스마트팩토리 1단계로 “주요 설비 운영/자재 이력/품질 데이터를 생산관리시스템(MES) 기반으로 통합”하고 사용자에게 “실시간 데이터 수집 및 가시화”를 완료했다고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(HD현대 공식 사업소개) “현대 스마트팩토리 통합플랫폼(H!Factory)은 공장 내 모든 생산장비를 연결하여 데이터를 취합·분석·관리”하고 “ERP 및 MES와의 연동을 통해 생산 실행 및 실적을 관리”한다고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(뉴스와이어, 2025) HD현대건설기계는 울산 캠퍼스를 스마트팩토리로 탈바꿈시키며 전 공정에 ‘제품 실시간 위치추적 시스템’을 도입해 공정 흐름 최적화, 용접 로봇/비전 센서, AGV, AI 기반 품질검사 도입을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Connectivity(5G/Net)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(ICT/통신) **KT** — 현대로보틱스와 5G/AI/클라우드 등 협력(기사 서술)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(연합뉴스, 2023) HD현대는 조선 ‘미래 첨단 조선소(FOS)’ 프로젝트 1단계 목표인 ‘눈에 보이는 조선소’ 구축을 완료했다고 밝힘.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기사) 1단계 핵심으로 디지털트윈 기반 가상 조선소 **‘트윈포스’**를 설명(현실 조선소를 3D모델로 구현, 현장 정보를 디지털 데이터로 가시화).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(동 문서) 2단계는 ‘데이터 분석’, 3단계는 ‘디지털 트윈과 데이터 기반으로 전세계 공장 운영 최적화가 자동으로 이뤄지는 글로벌 자율 운영 스마트 팩토리’로 이행한다고 로드맵을 제시.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(HD Hyundai Europe R&amp;D Center 게시글) HHI Group(현 HD현대 계열로 인지되는 HHI Group)이 Palantir Technologies와 MOU를 체결해 그룹 핵심 계열사 대상 빅데이터 플랫폼을 공동 구축한다고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(동 게시글) Palantir 빅데이터 플랫폼이 'Future of Shipyard(FOS)' 스마트 조선소 프로젝트(설계~생산 실시간 연결)에 적용된다고 서술.</a:t>
            </a:r>
          </a:p>
          <a:p>
            <a:pPr>
              <a:defRPr sz="1200">
                <a:solidFill>
                  <a:srgbClr val="B45309"/>
                </a:solidFill>
              </a:defRPr>
            </a:pPr>
            <a:r>
              <a:t>(Inference) 추정(근거 있음): 그룹 내 스마트팩토리/스마트조선소 구축에서 **H!Factory(HD현대로보틱스 플랫폼)**가 현장 OT/설비 연결·데이터 취합 계층의 핵심 축일 가능성.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Data/AI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기사) HD현대는 2026년까지 2단계 ‘연결-예측 최적화된 조선소’, 2030년까지 3단계 ‘지능형 자율 운영 조선소’ 구축 계획을 제시.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(인더스트리뉴스, 2020) 현대로보틱스의 ‘하이팩토리(HI FACTORY)’를 로봇 시스템 실시간 감시·고장 예측 솔루션으로 소개.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(인더스트리뉴스, 2020) 현대로보틱스가 로봇시스템을 실시간 감시하고 고장을 예측하는 스마트팩토리 프로그램 ‘하이팩토리(HI FACTORY)’를 개발했다고 소개.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(동 기사) 하이팩토리는 ‘H+I(Intelligent)’ 결합 명칭이며, 작업자에게 ‘간단한 원인제공 요소’를 알려주는 ‘AI 레벨 2단계’ 수준의 프로그램이라고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Digital Twin/Sim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(인더스트리뉴스, 2024) 다쏘시스템- HD현대중공업- HD한국조선해양이 **버추얼 트윈 기반 설계-생산 일원화 통합 플랫폼 구축**을 위한 전략적 협력을 했다고 보도.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(조선/디지털트윈) **다쏘시스템** — HD현대중공업/HD한국조선해양과 ‘버추얼 트윈 기반 설계-생산 일원화 통합 플랫폼’ 구축 협력(MOU) 보도.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Robot/AMR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(동행미디어 시대/머니S 재인용, 2026) HD건설기계와 HD현대로보틱스가 ‘생산공정 자동화 및 스마트팩토리 구축’ MOU를 체결했으며, HD현대로보틱스가 **강소 생산공장/인도공장/울산 신공장** 등에 자동 용접 솔루션 제작·적용을 한다고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문서) 제작라인 용접 자동화에서 “용접 로봇 비중 약 83%”를 언급하고, 2024년까지 약 93%로 확대 계획을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(건설기계/자동화) **HD현대로보틱스** — HD건설기계 공장(강소/인도/울산 신공장) 대상 자동 용접 솔루션 제작·적용 협력(MOU) 기사.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Energy/FEMS/ESG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(HD ESG 뉴스, 2022-04-06) Future of Shipyard(FOS) 프로젝트가 2030년까지 스마트 조선소 전환을 목표로 하며, 기대 효과로 생산성 30% 증가, 리드타임 30% 개선(=단축), 자원 낭비 0을 제시.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KPI/Outcome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기사) HD현대는 2030년까지 FOS 프로젝트를 완료해 **생산성 30% 향상, 공기 30% 단축** 목표를 언급.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울산 스마트팩토리 기대효과로 **노동 생산성 20%↑**, **제품 완성 기간 35% 단축**, **연간 생산능력 56%↑(9,600→15,000대)**를 제시.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esg.hd.com/en/news/575</a:t>
            </a:r>
            <a:r>
              <a:rPr sz="900">
                <a:solidFill>
                  <a:srgbClr val="4B5563"/>
                </a:solidFill>
                <a:hlinkClick r:id="rId4"/>
              </a:rPr>
              <a:t> | www.yna.co.kr/view/AKR20231220068100003</a:t>
            </a:r>
            <a:r>
              <a:rPr sz="900">
                <a:solidFill>
                  <a:srgbClr val="4B5563"/>
                </a:solidFill>
                <a:hlinkClick r:id="rId5"/>
              </a:rPr>
              <a:t> | www.newswire.co.kr/newsRead.php?no=1011496</a:t>
            </a:r>
            <a:r>
              <a:rPr sz="900">
                <a:solidFill>
                  <a:srgbClr val="4B5563"/>
                </a:solidFill>
                <a:hlinkClick r:id="rId6"/>
              </a:rPr>
              <a:t> | www.sidae.com/article/2026011315094821248</a:t>
            </a:r>
            <a:r>
              <a:rPr sz="900">
                <a:solidFill>
                  <a:srgbClr val="4B5563"/>
                </a:solidFill>
                <a:hlinkClick r:id="rId7"/>
              </a:rPr>
              <a:t> | www.industrynews.co.kr/news/articleView.html?idxno=36546</a:t>
            </a:r>
            <a:r>
              <a:rPr sz="900">
                <a:solidFill>
                  <a:srgbClr val="4B5563"/>
                </a:solidFill>
                <a:hlinkClick r:id="rId8"/>
              </a:rPr>
              <a:t> | www.hd.com/kr/business/machine/hyundai-robotics/contents</a:t>
            </a:r>
            <a:r>
              <a:rPr sz="900">
                <a:solidFill>
                  <a:srgbClr val="4B5563"/>
                </a:solidFill>
                <a:hlinkClick r:id="rId9"/>
              </a:rPr>
              <a:t> | www.industrynews.co.kr/news/articleView.html?idxno=53088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www.hyundai-ce.com/ko/media/newsletter/view?detailsKey=1040</a:t>
            </a:r>
            <a:r>
              <a:rPr sz="900">
                <a:solidFill>
                  <a:srgbClr val="4B5563"/>
                </a:solidFill>
                <a:hlinkClick r:id="rId11"/>
              </a:rPr>
              <a:t> | hdhyundai-erc.com/elementor-407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HD현대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울산(건설기계): 노동생산성 +20%, 리드타임 -35%, 생산능력 +56%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로봇 상태 감시/고장 예측(HI FACTORY) (수치 TBD)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ESG/에너지 관련 사례 존재 (수치 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https://esg.hd.com/en/news/575 | https://www.yna.co.kr/view/AKR20231220068100003 | https://www.newswire.co.kr/newsRead.php?no=1011496 | https://www.sidae.com/article/2026011315094821248 | https://www.industrynews.co.kr/news/articleView.html?idxno=36546 | https://www.hd.com/kr/business/machine/hyundai-robotics/contents | https://www.industrynews.co.kr/news/articleView.html?idxno=53088 | https://www.hyundai-ce.com/ko/media/newsletter/view?detailsKey=1040 | https://hdhyundai-erc.com/elementor-407/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Dense Matrix (summary → click for detail)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(Doosan 공식 보도자료, 2020-07-30) Doosan Infracore가 협력사들의 스마트팩토리 구축을 지원하는 프로그램을 운영하며, 협력사 대상 MES 구축을 지원한다고 서술.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Doosan Enerbility의 Digital Factory 설명에서, IoT 기술을 활용해 제조 정보 공유/모니터링이 가능한 시스템을 구축하고, 설비에 센서를 부착해 데이터를 수집·분석하여 제조 공정 최적화를 목표로 한다고 명시.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동일 페이지에서 Digital OE(Operational Excellence) 맥락으로 ‘digital factory’를 포함한 프로세스/시스템 재설계를 언급.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5" name="Rectangle 24">
            <a:hlinkClick action="ppaction://hlinksldjump" r:id="rId5"/>
          </p:cNvPr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(Doosan 공식 보도자료) 2019년 Leading Supplier 프로그램 참여사 사례로 World Tube의 유압 파이프 용접 품질이 50% 이상 개선, Tae Hwa의 납기 준수율이 28% 이상 개선됐다고 서술.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>
            <a:hlinkClick action="ppaction://hlinksldjump" r:id="rId6"/>
          </p:cNvPr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 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(Doosan Digital Innovation 공식 History) 2023년 Claroty(OT security specialist)와의 전략적 파트너십을 형성했다고 서술.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7"/>
              </a:rPr>
              <a:t>www.doosan.com/en/media-center/press-release_view/?id=20172223&amp;page=3</a:t>
            </a:r>
            <a:r>
              <a:rPr sz="900">
                <a:solidFill>
                  <a:srgbClr val="4B5563"/>
                </a:solidFill>
                <a:hlinkClick r:id="rId8"/>
              </a:rPr>
              <a:t> | www.doosan.com/en/media-center/press-release_view?id=20172202</a:t>
            </a:r>
            <a:r>
              <a:rPr sz="900">
                <a:solidFill>
                  <a:srgbClr val="4B5563"/>
                </a:solidFill>
                <a:hlinkClick r:id="rId9"/>
              </a:rPr>
              <a:t> | www.mk.co.kr/news/special-edition/11019049</a:t>
            </a:r>
            <a:r>
              <a:rPr sz="900">
                <a:solidFill>
                  <a:srgbClr val="4B5563"/>
                </a:solidFill>
                <a:hlinkClick r:id="rId10"/>
              </a:rPr>
              <a:t> | www.doosan.com/en/intro/technology-innovation</a:t>
            </a:r>
            <a:r>
              <a:rPr sz="900">
                <a:solidFill>
                  <a:srgbClr val="4B5563"/>
                </a:solidFill>
                <a:hlinkClick r:id="rId11"/>
              </a:rPr>
              <a:t> | www.doosandigitalinnovation.com/en/intro/history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MES/PLM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(Doosan 공식 보도자료, 2020-07-30) Doosan Infracore가 협력사들의 스마트팩토리 구축을 지원하는 프로그램을 운영하며, 협력사 대상 MES 구축을 지원한다고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MES를 생산계획/자재흐름/품질 정보 등의 실시간 데이터를 단일 플랫폼에서 통합 관리해 생산 효율을 높이는 핵심 스마트팩토리 프로그램으로 설명.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(매일경제, 2024) ㈜두산은 2019년부터 중기부 스마트공장 구축 지원 사업에 참여해 협력사에 협동로봇 도입, MES(생산관리시스템), PLM 등을 통한 생산현장 디지털 전환을 지원했으며 2019~2023년 총 29개 협력사를 지원했다고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(매일경제 기사 기준) 두산 협력사 스마트공장 지원 요소로 협동로봇, MES, PLM 언급.</a:t>
            </a:r>
          </a:p>
          <a:p>
            <a:pPr>
              <a:defRPr sz="1200">
                <a:solidFill>
                  <a:srgbClr val="B45309"/>
                </a:solidFill>
              </a:defRPr>
            </a:pPr>
            <a:r>
              <a:t>(Inference) 추정(근거 약/추가 필요): ‘주관 수행사(SI)’는 기사에서 특정되지 않음. 두산 내부(구매/동반성장) 주도 + 개별 솔루션 벤더(MES/PLM/로봇) 조합 가능성이 높음.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www.doosan.com/en/media-center/press-release_view/?id=20172223&amp;page=3</a:t>
            </a:r>
            <a:r>
              <a:rPr sz="900">
                <a:solidFill>
                  <a:srgbClr val="4B5563"/>
                </a:solidFill>
                <a:hlinkClick r:id="rId4"/>
              </a:rPr>
              <a:t> | www.doosan.com/en/media-center/press-release_view?id=20172202</a:t>
            </a:r>
            <a:r>
              <a:rPr sz="900">
                <a:solidFill>
                  <a:srgbClr val="4B5563"/>
                </a:solidFill>
                <a:hlinkClick r:id="rId5"/>
              </a:rPr>
              <a:t> | www.mk.co.kr/news/special-edition/11019049</a:t>
            </a:r>
            <a:r>
              <a:rPr sz="900">
                <a:solidFill>
                  <a:srgbClr val="4B5563"/>
                </a:solidFill>
                <a:hlinkClick r:id="rId6"/>
              </a:rPr>
              <a:t> | www.doosan.com/en/intro/technology-innovation</a:t>
            </a:r>
            <a:r>
              <a:rPr sz="900">
                <a:solidFill>
                  <a:srgbClr val="4B5563"/>
                </a:solidFill>
                <a:hlinkClick r:id="rId7"/>
              </a:rPr>
              <a:t> | www.doosandigitalinnovation.com/en/intro/history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Doosan Enerbility의 Digital Factory 설명에서, IoT 기술을 활용해 제조 정보 공유/모니터링이 가능한 시스템을 구축하고, 설비에 센서를 부착해 데이터를 수집·분석하여 제조 공정 최적화를 목표로 한다고 명시.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History) 2023년 Phosphorus(xIoT security specialist)와의 파트너십을 형성했다고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www.doosan.com/en/media-center/press-release_view/?id=20172223&amp;page=3</a:t>
            </a:r>
            <a:r>
              <a:rPr sz="900">
                <a:solidFill>
                  <a:srgbClr val="4B5563"/>
                </a:solidFill>
                <a:hlinkClick r:id="rId4"/>
              </a:rPr>
              <a:t> | www.doosan.com/en/media-center/press-release_view?id=20172202</a:t>
            </a:r>
            <a:r>
              <a:rPr sz="900">
                <a:solidFill>
                  <a:srgbClr val="4B5563"/>
                </a:solidFill>
                <a:hlinkClick r:id="rId5"/>
              </a:rPr>
              <a:t> | www.mk.co.kr/news/special-edition/11019049</a:t>
            </a:r>
            <a:r>
              <a:rPr sz="900">
                <a:solidFill>
                  <a:srgbClr val="4B5563"/>
                </a:solidFill>
                <a:hlinkClick r:id="rId6"/>
              </a:rPr>
              <a:t> | www.doosan.com/en/intro/technology-innovation</a:t>
            </a:r>
            <a:r>
              <a:rPr sz="900">
                <a:solidFill>
                  <a:srgbClr val="4B5563"/>
                </a:solidFill>
                <a:hlinkClick r:id="rId7"/>
              </a:rPr>
              <a:t> | www.doosandigitalinnovation.com/en/intro/history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동일 페이지에서 Digital OE(Operational Excellence) 맥락으로 ‘digital factory’를 포함한 프로세스/시스템 재설계를 언급.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www.doosan.com/en/media-center/press-release_view/?id=20172223&amp;page=3</a:t>
            </a:r>
            <a:r>
              <a:rPr sz="900">
                <a:solidFill>
                  <a:srgbClr val="4B5563"/>
                </a:solidFill>
                <a:hlinkClick r:id="rId4"/>
              </a:rPr>
              <a:t> | www.doosan.com/en/media-center/press-release_view?id=20172202</a:t>
            </a:r>
            <a:r>
              <a:rPr sz="900">
                <a:solidFill>
                  <a:srgbClr val="4B5563"/>
                </a:solidFill>
                <a:hlinkClick r:id="rId5"/>
              </a:rPr>
              <a:t> | www.mk.co.kr/news/special-edition/11019049</a:t>
            </a:r>
            <a:r>
              <a:rPr sz="900">
                <a:solidFill>
                  <a:srgbClr val="4B5563"/>
                </a:solidFill>
                <a:hlinkClick r:id="rId6"/>
              </a:rPr>
              <a:t> | www.doosan.com/en/intro/technology-innovation</a:t>
            </a:r>
            <a:r>
              <a:rPr sz="900">
                <a:solidFill>
                  <a:srgbClr val="4B5563"/>
                </a:solidFill>
                <a:hlinkClick r:id="rId7"/>
              </a:rPr>
              <a:t> | www.doosandigitalinnovation.com/en/intro/history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Robot/AMR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(Doosan 공식 보도자료) 2019년 Leading Supplier 프로그램 참여사 사례로 World Tube의 유압 파이프 용접 품질이 50% 이상 개선, Tae Hwa의 납기 준수율이 28% 이상 개선됐다고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www.doosan.com/en/media-center/press-release_view/?id=20172223&amp;page=3</a:t>
            </a:r>
            <a:r>
              <a:rPr sz="900">
                <a:solidFill>
                  <a:srgbClr val="4B5563"/>
                </a:solidFill>
                <a:hlinkClick r:id="rId4"/>
              </a:rPr>
              <a:t> | www.doosan.com/en/media-center/press-release_view?id=20172202</a:t>
            </a:r>
            <a:r>
              <a:rPr sz="900">
                <a:solidFill>
                  <a:srgbClr val="4B5563"/>
                </a:solidFill>
                <a:hlinkClick r:id="rId5"/>
              </a:rPr>
              <a:t> | www.mk.co.kr/news/special-edition/11019049</a:t>
            </a:r>
            <a:r>
              <a:rPr sz="900">
                <a:solidFill>
                  <a:srgbClr val="4B5563"/>
                </a:solidFill>
                <a:hlinkClick r:id="rId6"/>
              </a:rPr>
              <a:t> | www.doosan.com/en/intro/technology-innovation</a:t>
            </a:r>
            <a:r>
              <a:rPr sz="900">
                <a:solidFill>
                  <a:srgbClr val="4B5563"/>
                </a:solidFill>
                <a:hlinkClick r:id="rId7"/>
              </a:rPr>
              <a:t> | www.doosandigitalinnovation.com/en/intro/history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OT Security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(Doosan Digital Innovation 공식 History) 2023년 Claroty(OT security specialist)와의 전략적 파트너십을 형성했다고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www.doosan.com/en/media-center/press-release_view/?id=20172223&amp;page=3</a:t>
            </a:r>
            <a:r>
              <a:rPr sz="900">
                <a:solidFill>
                  <a:srgbClr val="4B5563"/>
                </a:solidFill>
                <a:hlinkClick r:id="rId4"/>
              </a:rPr>
              <a:t> | www.doosan.com/en/media-center/press-release_view?id=20172202</a:t>
            </a:r>
            <a:r>
              <a:rPr sz="900">
                <a:solidFill>
                  <a:srgbClr val="4B5563"/>
                </a:solidFill>
                <a:hlinkClick r:id="rId5"/>
              </a:rPr>
              <a:t> | www.mk.co.kr/news/special-edition/11019049</a:t>
            </a:r>
            <a:r>
              <a:rPr sz="900">
                <a:solidFill>
                  <a:srgbClr val="4B5563"/>
                </a:solidFill>
                <a:hlinkClick r:id="rId6"/>
              </a:rPr>
              <a:t> | www.doosan.com/en/intro/technology-innovation</a:t>
            </a:r>
            <a:r>
              <a:rPr sz="900">
                <a:solidFill>
                  <a:srgbClr val="4B5563"/>
                </a:solidFill>
                <a:hlinkClick r:id="rId7"/>
              </a:rPr>
              <a:t> | www.doosandigitalinnovation.com/en/intro/history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두산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https://www.doosan.com/en/media-center/press-release_view/?id=20172223&amp;page=3 | https://www.doosan.com/en/media-center/press-release_view?id=20172202 | https://www.mk.co.kr/news/special-edition/11019049 | https://www.doosan.com/en/intro/technology-innovation/ | https://www.doosandigitalinnovation.com/en/intro/history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Dense Matrix (summary → click for detail)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(HMG 저널, 2023) HMGICS(싱가포르 혁신센터)에서 MES를 ‘통합 플랫폼’으로 설명하며, 표준화된 데이터를 통합·관리하고 생산계획/작업지시/부품주문/문제 발생 시 계획 수정 등 공장 운영을 관장한다고 서술.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3" name="Rectangle 12">
            <a:hlinkClick action="ppaction://hlinksldjump" r:id="rId3"/>
          </p:cNvPr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5309"/>
                </a:solidFill>
              </a:defRPr>
            </a:pPr>
            <a:r>
              <a:t>(I) 추정(근거 있음): 현대차그룹 스마트팩토리 ‘주관 수행사’는 현대오토에버 중심일 가능성이 높고, 네트워크/클라우드/OT는 다수 파트너 생태계로 구성될 가능성.</a:t>
            </a:r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Hyundai AutoEver는 Smart Factory를 “cloud-based integrated solution”로 설명하며 제조 전 영역의 데이터를 통합해 밸류체인 연결성과 혁신을 강화한다고 밝힘.</a:t>
            </a:r>
          </a:p>
        </p:txBody>
      </p:sp>
      <p:sp>
        <p:nvSpPr>
          <p:cNvPr id="19" name="Rectangle 18">
            <a:hlinkClick action="ppaction://hlinksldjump" r:id="rId5"/>
          </p:cNvPr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현대자동차그룹은 NVIDIA와 협력해 Blackwell AI 인프라 기반 ‘AI factory’를 구축해 차량내 AI, 자율주행, 스마트팩토리, 로보틱스용 모델 학습/검증/배포를 가속한다고 발표.</a:t>
            </a:r>
          </a:p>
        </p:txBody>
      </p:sp>
      <p:sp>
        <p:nvSpPr>
          <p:cNvPr id="22" name="Rectangle 21">
            <a:hlinkClick action="ppaction://hlinksldjump" r:id="rId6"/>
          </p:cNvPr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 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(현대 공식 뉴스룸, 2023-11-21) HMGICS가 연 30,000대 EV 생산 능력을 갖추며, 디지털 트윈 Meta-Factory 기술이 고객 수요/생산 요구 변화에 초고속 대응을 지원한다고 서술.</a:t>
            </a:r>
          </a:p>
        </p:txBody>
      </p:sp>
      <p:sp>
        <p:nvSpPr>
          <p:cNvPr id="25" name="Rectangle 24">
            <a:hlinkClick action="ppaction://hlinksldjump" r:id="rId7"/>
          </p:cNvPr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발표문) 현대차그룹은 NVIDIA Omniverse(및 Cosmos)를 활용해 공장 디지털트윈(제조환경의 가상 복제)을 개발하고, 제조 최적화/예지보전/로봇 통합 가속 등에 활용한다고 설명.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8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9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10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11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12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13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MES/PLM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(HMG 저널, 2023) HMGICS(싱가포르 혁신센터)에서 MES를 ‘통합 플랫폼’으로 설명하며, 표준화된 데이터를 통합·관리하고 생산계획/작업지시/부품주문/문제 발생 시 계획 수정 등 공장 운영을 관장한다고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(현대오토에버 공식) SFaaS(Smart Factory as a Service)를 ‘클라우드 기반 스마트 MES와 지능형 제조 플랫폼’의 통합 서비스로 설명하며, 제조 전 영역 데이터 통합/밸류체인 연결성 강화/IT 비용 절감 등을 언급.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현대오토에버는 스마트팩토리/SFaaS를 클라우드 기반 스마트 MES+지능형 제조 플랫폼으로 소개(=그룹 내 수행 주체 가능).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HMGICS 사례에서 MES 기반 통합 플랫폼/대시보드(H-데이터 스튜디오)/5G 네트워크 인프라 언급.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4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5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6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7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8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Connectivity(5G/Net)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5309"/>
                </a:solidFill>
              </a:defRPr>
            </a:pPr>
            <a:r>
              <a:t>(Inference) 추정(근거 있음): 현대차그룹 스마트팩토리 ‘주관 수행사’는 현대오토에버 중심일 가능성이 높고, 네트워크/클라우드/OT는 다수 파트너 생태계로 구성될 가능성.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4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5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6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7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8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Hyundai AutoEver는 Smart Factory를 “cloud-based integrated solution”로 설명하며 제조 전 영역의 데이터를 통합해 밸류체인 연결성과 혁신을 강화한다고 밝힘.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4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5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6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7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8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Data/AI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현대자동차그룹은 NVIDIA와 협력해 Blackwell AI 인프라 기반 ‘AI factory’를 구축해 차량내 AI, 자율주행, 스마트팩토리, 로보틱스용 모델 학습/검증/배포를 가속한다고 발표.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(현대 공식 뉴스룸, 2022-01-06) Hyundai Motor Company와 Unity가 'Meta-Factory' 관련 파트너십을 발표했으며, MOU 범위에 smart manufacturing이 포함된다고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4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5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6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7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8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Digital Twin/Sim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(현대 공식 뉴스룸, 2023-11-21) HMGICS가 연 30,000대 EV 생산 능력을 갖추며, 디지털 트윈 Meta-Factory 기술이 고객 수요/생산 요구 변화에 초고속 대응을 지원한다고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뉴스룸) 'Meta-Factory'는 실제 공장의 digital twin(메타버스 기반)으로 공장 운영 최적화 및 가상 문제 해결을 지원한다고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4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5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6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7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8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Robot/AMR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발표문) 현대차그룹은 NVIDIA Omniverse(및 Cosmos)를 활용해 공장 디지털트윈(제조환경의 가상 복제)을 개발하고, 제조 최적화/예지보전/로봇 통합 가속 등에 활용한다고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www.hyundai.com/worldwide/en/newsroom/detail/new-hyundai-motor-group-innovation-center-singapore-set-to-transform-production,-r&amp;d-and-customer-experience-0000000363</a:t>
            </a:r>
            <a:r>
              <a:rPr sz="900">
                <a:solidFill>
                  <a:srgbClr val="4B5563"/>
                </a:solidFill>
                <a:hlinkClick r:id="rId4"/>
              </a:rPr>
              <a:t> | www.hyundaimotorgroup.com/ko/story/CONT0000000000122310</a:t>
            </a:r>
            <a:r>
              <a:rPr sz="900">
                <a:solidFill>
                  <a:srgbClr val="4B5563"/>
                </a:solidFill>
                <a:hlinkClick r:id="rId5"/>
              </a:rPr>
              <a:t> | www.hyundai-autoever.com/kor/business-area/digital-transformation/smart-factory/contents.do?cntnSeq=352</a:t>
            </a:r>
            <a:r>
              <a:rPr sz="900">
                <a:solidFill>
                  <a:srgbClr val="4B5563"/>
                </a:solidFill>
                <a:hlinkClick r:id="rId6"/>
              </a:rPr>
              <a:t> | www.hyundai-autoever.com/eng/business-area/digital-transformation/smart-factory/contents.do?cntnSeq=372</a:t>
            </a:r>
            <a:r>
              <a:rPr sz="900">
                <a:solidFill>
                  <a:srgbClr val="4B5563"/>
                </a:solidFill>
                <a:hlinkClick r:id="rId7"/>
              </a:rPr>
              <a:t> | www.hyundai.com/worldwide/en/newsroom/detail/hyundai-motor-group-announces-nvidia-blackwell-ai-factory-to-power-fleet-of-ai-driven-mobility-solutions-0000001041</a:t>
            </a:r>
            <a:r>
              <a:rPr sz="900">
                <a:solidFill>
                  <a:srgbClr val="4B5563"/>
                </a:solidFill>
                <a:hlinkClick r:id="rId8"/>
              </a:rPr>
              <a:t>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현대차그룹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로봇 상태 감시/고장 예측(HI FACTORY) (수치 TBD)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https://www.hyundai.com/worldwide/en/newsroom/detail/new-hyundai-motor-group-innovation-center-singapore-set-to-transform-production,-r&amp;d-and-customer-experience-0000000363 | https://www.hyundaimotorgroup.com/ko/story/CONT0000000000122310 | https://www.hyundai-autoever.com/kor/business-area/digital-transformation/smart-factory/contents.do?cntnSeq=352 | https://www.hyundai-autoever.com/eng/business-area/digital-transformation/smart-factory/contents.do?cntnSeq=372 | https://www.hyundai.com/worldwide/en/newsroom/detail/hyundai-motor-group-announces-nvidia-blackwell-ai-factory-to-power-fleet-of-ai-driven-mobility-solutions-0000001041 | https://www.hyundai.com/worldwide/en/newsroom/detail/hyundai-motor-and-unity-partner-to-build-meta-factory-accelerating-intelligent-manufacturing-innovation-0000000014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Dense Matrix (summary → click for detail)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(삼성SDS 공식) Nexplant MES를 ‘현장 정보를 실시간 수집’하고 제품 투입~출하까지의 생산 활동을 자동화하며, 생산공정/생산자원을 통합 관리하는 제조 운영 솔루션으로 설명.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페이지) 제조 데이터 통합/배포(Data Catalog), 알고리즘/분석모델 재사용(API Catalog), Brightics AI, Brightics IoT, Nexplant 3D eXcellence 등을 제조용 플랫폼/구성요소로 제시.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(보도자료) Samsung SDS의 빅데이터 분석 플랫폼 Brightics를 포함하며, 제조 공정 문제 식별/해결 시간을 ‘최대 12시간’에서 ‘10분 미만’으로 줄인다고 주장.</a:t>
            </a:r>
          </a:p>
        </p:txBody>
      </p:sp>
      <p:sp>
        <p:nvSpPr>
          <p:cNvPr id="19" name="Rectangle 18">
            <a:hlinkClick action="ppaction://hlinksldjump" r:id="rId5"/>
          </p:cNvPr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Samsung SDS는 AI 기반 스마트팩토리 솔루션 Nexplant 출시를 공식 발표.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 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(삼성SDS 공식) Factory Solutions/Smart Factory 페이지에서 제조 DX 서비스를 'Manufacturing intelligence' 등으로 구분하고, 생산현장의 생산성/품질 개선 및 비용 절감을 위한 솔루션/서비스를 제공한다고 서술.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7"/>
              </a:rPr>
              <a:t>www.samsungsds.com/en/manufacturing/manufacturing.html</a:t>
            </a:r>
            <a:r>
              <a:rPr sz="900">
                <a:solidFill>
                  <a:srgbClr val="4B5563"/>
                </a:solidFill>
                <a:hlinkClick r:id="rId8"/>
              </a:rPr>
              <a:t> | www.samsungsds.com/kr/mes/nexplant-mes.html</a:t>
            </a:r>
            <a:r>
              <a:rPr sz="900">
                <a:solidFill>
                  <a:srgbClr val="4B5563"/>
                </a:solidFill>
                <a:hlinkClick r:id="rId9"/>
              </a:rPr>
              <a:t> | www.samsungsds.com/en/news/1241007_5252.html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MES/PLM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(삼성SDS 공식) Nexplant MES를 ‘현장 정보를 실시간 수집’하고 제품 투입~출하까지의 생산 활동을 자동화하며, 생산공정/생산자원을 통합 관리하는 제조 운영 솔루션으로 설명.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삼성SDS Nexplant MES가 제조 운영 솔루션으로 소개됨(=내부/그룹 수행 주체 가능).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www.samsungsds.com/en/manufacturing/manufacturing.html</a:t>
            </a:r>
            <a:r>
              <a:rPr sz="900">
                <a:solidFill>
                  <a:srgbClr val="4B5563"/>
                </a:solidFill>
                <a:hlinkClick r:id="rId4"/>
              </a:rPr>
              <a:t> | www.samsungsds.com/kr/mes/nexplant-mes.html</a:t>
            </a:r>
            <a:r>
              <a:rPr sz="900">
                <a:solidFill>
                  <a:srgbClr val="4B5563"/>
                </a:solidFill>
                <a:hlinkClick r:id="rId5"/>
              </a:rPr>
              <a:t> | www.samsungsds.com/en/news/1241007_5252.html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페이지) 제조 데이터 통합/배포(Data Catalog), 알고리즘/분석모델 재사용(API Catalog), Brightics AI, Brightics IoT, Nexplant 3D eXcellence 등을 제조용 플랫폼/구성요소로 제시.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(보도자료) Nexplant는 제조설비의 센서 데이터를 IoT로 수집·분석하고 AI를 제조 프로세스에 적용해 이상(anomalies)을 신속히 감지/제어하여 생산 효율을 극대화한다고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www.samsungsds.com/en/manufacturing/manufacturing.html</a:t>
            </a:r>
            <a:r>
              <a:rPr sz="900">
                <a:solidFill>
                  <a:srgbClr val="4B5563"/>
                </a:solidFill>
                <a:hlinkClick r:id="rId4"/>
              </a:rPr>
              <a:t> | www.samsungsds.com/kr/mes/nexplant-mes.html</a:t>
            </a:r>
            <a:r>
              <a:rPr sz="900">
                <a:solidFill>
                  <a:srgbClr val="4B5563"/>
                </a:solidFill>
                <a:hlinkClick r:id="rId5"/>
              </a:rPr>
              <a:t> | www.samsungsds.com/en/news/1241007_5252.html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(보도자료) Samsung SDS의 빅데이터 분석 플랫폼 Brightics를 포함하며, 제조 공정 문제 식별/해결 시간을 ‘최대 12시간’에서 ‘10분 미만’으로 줄인다고 주장.</a:t>
            </a:r>
          </a:p>
          <a:p>
            <a:pPr>
              <a:defRPr sz="1400">
                <a:solidFill>
                  <a:srgbClr val="B45309"/>
                </a:solidFill>
              </a:defRPr>
            </a:pPr>
            <a:r>
              <a:t>(Inference) 추정(근거 있음): 삼성 제조/공장 적용은 삼성SDS가 주관 수행사 역할을 하는 경우가 많을 것으로 추정(단, 특정 공장 레퍼런스 1차 출처는 추가 확인 필요).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www.samsungsds.com/en/manufacturing/manufacturing.html</a:t>
            </a:r>
            <a:r>
              <a:rPr sz="900">
                <a:solidFill>
                  <a:srgbClr val="4B5563"/>
                </a:solidFill>
                <a:hlinkClick r:id="rId4"/>
              </a:rPr>
              <a:t> | www.samsungsds.com/kr/mes/nexplant-mes.html</a:t>
            </a:r>
            <a:r>
              <a:rPr sz="900">
                <a:solidFill>
                  <a:srgbClr val="4B5563"/>
                </a:solidFill>
                <a:hlinkClick r:id="rId5"/>
              </a:rPr>
              <a:t> | www.samsungsds.com/en/news/1241007_5252.html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Data/AI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Samsung SDS는 AI 기반 스마트팩토리 솔루션 Nexplant 출시를 공식 발표.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www.samsungsds.com/en/manufacturing/manufacturing.html</a:t>
            </a:r>
            <a:r>
              <a:rPr sz="900">
                <a:solidFill>
                  <a:srgbClr val="4B5563"/>
                </a:solidFill>
                <a:hlinkClick r:id="rId4"/>
              </a:rPr>
              <a:t> | www.samsungsds.com/kr/mes/nexplant-mes.html</a:t>
            </a:r>
            <a:r>
              <a:rPr sz="900">
                <a:solidFill>
                  <a:srgbClr val="4B5563"/>
                </a:solidFill>
                <a:hlinkClick r:id="rId5"/>
              </a:rPr>
              <a:t> | www.samsungsds.com/en/news/1241007_5252.html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Vision/Inspection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(삼성SDS 공식) Factory Solutions/Smart Factory 페이지에서 제조 DX 서비스를 'Manufacturing intelligence' 등으로 구분하고, 생산현장의 생산성/품질 개선 및 비용 절감을 위한 솔루션/서비스를 제공한다고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(보도자료) Nexplant는 제품 설계→생산→품질 관리→운영 지원까지 제조 프로세스 전반을 통합 관리할 수 있는 ‘total solution’이라고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www.samsungsds.com/en/manufacturing/manufacturing.html</a:t>
            </a:r>
            <a:r>
              <a:rPr sz="900">
                <a:solidFill>
                  <a:srgbClr val="4B5563"/>
                </a:solidFill>
                <a:hlinkClick r:id="rId4"/>
              </a:rPr>
              <a:t> | www.samsungsds.com/kr/mes/nexplant-mes.html</a:t>
            </a:r>
            <a:r>
              <a:rPr sz="900">
                <a:solidFill>
                  <a:srgbClr val="4B5563"/>
                </a:solidFill>
                <a:hlinkClick r:id="rId5"/>
              </a:rPr>
              <a:t> | www.samsungsds.com/en/news/1241007_5252.html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삼성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https://www.samsungsds.com/en/manufacturing/manufacturing.html | https://www.samsungsds.com/kr/mes/nexplant-mes.html | https://www.samsungsds.com/en/news/1241007_5252.html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Dense Matrix (summary → click for detail)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LG CNS는 스마트팩토리 생산실행(Production Execution) 영역이 크게 MMD(MES Master Data), MES, WMS로 구성된다고 설명.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기사) ‘지능형 공정 시스템’이 AI+빅데이터+디지털트윈을 결합했고, 30초마다 데이터 수집·분석 후 10분 뒤 생산라인을 예측한다고 서술.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(LG Corp 공식 보도자료, 2022-03-31) LG Smart Park(창원)가 WEF 'Lighthouse Factory'로 선정됐다고 서술.</a:t>
            </a:r>
          </a:p>
        </p:txBody>
      </p:sp>
      <p:sp>
        <p:nvSpPr>
          <p:cNvPr id="19" name="Rectangle 18">
            <a:hlinkClick action="ppaction://hlinksldjump" r:id="rId5"/>
          </p:cNvPr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보도자료) Changwon LG Smart Park의 주요 요소로 3D 물류 시스템, edge computing+machine learning 기반 결함 예측 분석, 다양한 모델의 유연 생산 등을 열거.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1" name="Rectangle 30">
            <a:hlinkClick action="ppaction://hlinksldjump" r:id="rId6"/>
          </p:cNvPr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 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기사) 구축 효과로 생산성 20% 향상, 라인 개발·구축 기간 30% 단축, 에너지 효율 약 30% 개선(탄소배출 감축)을 언급.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>
            <a:hlinkClick action="ppaction://hlinksldjump" r:id="rId7"/>
          </p:cNvPr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 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보도자료) 2020→2021 기간 불량 반품 비용 70% 감소, 시간당 생산량 17% 증가(WEF site visit report 기준) 등을 서술.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8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9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10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11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MES/PLM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LG CNS는 스마트팩토리 생산실행(Production Execution) 영역이 크게 MMD(MES Master Data), MES, WMS로 구성된다고 설명.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LG CNS는 MES를 스마트팩토리의 핵심 구성요소로 설명하며, 생산계획에 따른 공정 지시/실시간 모니터링/설비 상태 및 품질 데이터 통합 관리를 통해 생산활동의 체계적·자동화 운영을 지원한다고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LG CNS는 Factova MES가 다양한 제조 분야에서 30년 이상 MES 구축 경험을 기반으로 하고, 표준 기능과 산업별 특화 기능을 제공한다고 소개.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(FAQ 발췌) Factova는 표준 프레임워크 기반 통합 솔루션으로, 다양한 산업(석유화학/전자/디스플레이/제약/배터리 등)을 위한 embedded MES core를 제공한다고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4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5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6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기사) ‘지능형 공정 시스템’이 AI+빅데이터+디지털트윈을 결합했고, 30초마다 데이터 수집·분석 후 10분 뒤 생산라인을 예측한다고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4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5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6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(LG Corp 공식 보도자료, 2022-03-31) LG Smart Park(창원)가 WEF 'Lighthouse Factory'로 선정됐다고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(LG전자 뉴스룸, 2022) 창원 ‘LG스마트파크’가 WEF 등대공장으로 선정됐다고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(LG 보도자료) LG전자는 생산기술원(PSI)의 스마트팩토리 구축/운영 노하우와 기술력을 외부에 공급하는 사업을 본격 추진하며, 2024년 외부 수주 규모를 2천억 원 수준으로 예상한다고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(동 보도자료) LG전자 스마트팩토리 솔루션에 디지털트윈 기반 생산시스템 설계/모니터링/운영, 빅데이터/생성형 AI 기반 설비·공정관리/산업안전/품질검사, 산업용 로봇(AMR 등) 포함을 언급.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LG전자 생산기술원(PSI)이 스마트팩토리 구축/운영 노하우를 외부에 공급하는 사업을 추진(=내부 수행 조직).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솔루션 구성으로 디지털트윈/빅데이터·생성형AI/산업용로봇(AMR) 등을 포괄한다고 서술.</a:t>
            </a:r>
          </a:p>
          <a:p>
            <a:pPr>
              <a:defRPr sz="1200">
                <a:solidFill>
                  <a:srgbClr val="B45309"/>
                </a:solidFill>
              </a:defRPr>
            </a:pPr>
            <a:r>
              <a:t>(Inference) 추정(근거 있음): LG 계열/외부 고객 대상 구축에서 ‘내부 PSI + (필요 시) SI/클라우드/OT보안/AMR 벤더’ 조합 형태일 가능성.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4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5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6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Data/AI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Changwon LG Smart Park의 주요 요소로 3D 물류 시스템, edge computing+machine learning 기반 결함 예측 분석, 다양한 모델의 유연 생산 등을 열거.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4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5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6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Energy/FEMS/ESG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기사) 구축 효과로 생산성 20% 향상, 라인 개발·구축 기간 30% 단축, 에너지 효율 약 30% 개선(탄소배출 감축)을 언급.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4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5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6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KPI/Outcome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2020→2021 기간 불량 반품 비용 70% 감소, 시간당 생산량 17% 증가(WEF site visit report 기준) 등을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lgcorp.com/media/release/24625</a:t>
            </a:r>
            <a:r>
              <a:rPr sz="900">
                <a:solidFill>
                  <a:srgbClr val="4B5563"/>
                </a:solidFill>
                <a:hlinkClick r:id="rId4"/>
              </a:rPr>
              <a:t> | live.lge.co.kr/lg-wef-lighthousefactory</a:t>
            </a:r>
            <a:r>
              <a:rPr sz="900">
                <a:solidFill>
                  <a:srgbClr val="4B5563"/>
                </a:solidFill>
                <a:hlinkClick r:id="rId5"/>
              </a:rPr>
              <a:t> | lg.co.kr/media/release/27907</a:t>
            </a:r>
            <a:r>
              <a:rPr sz="900">
                <a:solidFill>
                  <a:srgbClr val="4B5563"/>
                </a:solidFill>
                <a:hlinkClick r:id="rId6"/>
              </a:rPr>
              <a:t>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LG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로봇 상태 감시/고장 예측(HI FACTORY) (수치 TBD)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ESG/에너지 관련 사례 존재 (수치 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https://lgcorp.com/media/release/24625 | https://live.lge.co.kr/lg-wef-lighthousefactory/ | https://lg.co.kr/media/release/27907 | https://www.lgcns.com/en/service/smart-factory/manufacturing-execution-management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SK — Dense Matrix (summary → click for 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(SK AX 공식) 제조 디지털 혁신을 위한 스마트팩토리/디지털 매뉴팩처링을 소개하며, AI/빅데이터/IoT/클라우드 적용 및 전 공정 모니터링/데이터 통합 관리 필요성을 서술.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(SK 공식 보도자료, 2025-10-31) SK Group이 NVIDIA와 파트너십을 발표하며 'Manufacturing AI Cloud'를 구축/운영하고, 이를 SK hynix 등 제조 계열사 및 국내 기관/스타트업에 제공한다고 서술.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8" name="Rectangle 27">
            <a:hlinkClick action="ppaction://hlinksldjump" r:id="rId4"/>
          </p:cNvPr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 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페이지) SK AX는 제조 영역에서 디지털 기술을 기반으로 공장 자동화/지능화 수준을 개선해 품질 개선 및 생산 효율(핵심 성과지표)을 달성한다고 설명.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5"/>
              </a:rPr>
              <a:t>eng.sk.com/news/sk-accelerates-ai-transformation-in-manufacturing-with-ai-factory-powered-by-nvidia</a:t>
            </a:r>
            <a:r>
              <a:rPr sz="900">
                <a:solidFill>
                  <a:srgbClr val="4B5563"/>
                </a:solidFill>
                <a:hlinkClick r:id="rId6"/>
              </a:rPr>
              <a:t> | www.skax.co.kr/manufacturing</a:t>
            </a:r>
            <a:r>
              <a:rPr sz="900">
                <a:solidFill>
                  <a:srgbClr val="4B5563"/>
                </a:solidFill>
                <a:hlinkClick r:id="rId7"/>
              </a:rPr>
              <a:t> | www.skax.co.kr/en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SK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(SK AX 공식) 제조 디지털 혁신을 위한 스마트팩토리/디지털 매뉴팩처링을 소개하며, AI/빅데이터/IoT/클라우드 적용 및 전 공정 모니터링/데이터 통합 관리 필요성을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eng.sk.com/news/sk-accelerates-ai-transformation-in-manufacturing-with-ai-factory-powered-by-nvidia</a:t>
            </a:r>
            <a:r>
              <a:rPr sz="900">
                <a:solidFill>
                  <a:srgbClr val="4B5563"/>
                </a:solidFill>
                <a:hlinkClick r:id="rId4"/>
              </a:rPr>
              <a:t> | www.skax.co.kr/manufacturing</a:t>
            </a:r>
            <a:r>
              <a:rPr sz="900">
                <a:solidFill>
                  <a:srgbClr val="4B5563"/>
                </a:solidFill>
                <a:hlinkClick r:id="rId5"/>
              </a:rPr>
              <a:t> | www.skax.co.kr/en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SK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(SK 공식 보도자료, 2025-10-31) SK Group이 NVIDIA와 파트너십을 발표하며 'Manufacturing AI Cloud'를 구축/운영하고, 이를 SK hynix 등 제조 계열사 및 국내 기관/스타트업에 제공한다고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SK Group이 50,000+ GPU 규모의 'AI Factory' 구축을 언급하며, 해당 AI Factory가 Manufacturing AI Cloud 및 울산 AI 데이터센터 프로젝트를 포함한다고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SK AX는 제조(Manufacturing)를 주요 비즈니스 영역 중 하나로 제시.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SK AX(구 SK㈜ C&amp;C 계열)에서 제조 디지털 혁신/스마트팩토리 고도화 관점을 공식 콘텐츠로 소개.</a:t>
            </a:r>
          </a:p>
          <a:p>
            <a:pPr>
              <a:defRPr sz="1200">
                <a:solidFill>
                  <a:srgbClr val="B45309"/>
                </a:solidFill>
              </a:defRPr>
            </a:pPr>
            <a:r>
              <a:t>(Inference) 추정(근거 약): SK 계열 제조 현장 구축 수행에서 SK AX가 SI/플랫폼 역할을 할 가능성이 높으나, 특정 계열/공장 레퍼런스 1차 출처는 추가 확보 필요.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eng.sk.com/news/sk-accelerates-ai-transformation-in-manufacturing-with-ai-factory-powered-by-nvidia</a:t>
            </a:r>
            <a:r>
              <a:rPr sz="900">
                <a:solidFill>
                  <a:srgbClr val="4B5563"/>
                </a:solidFill>
                <a:hlinkClick r:id="rId4"/>
              </a:rPr>
              <a:t> | www.skax.co.kr/manufacturing</a:t>
            </a:r>
            <a:r>
              <a:rPr sz="900">
                <a:solidFill>
                  <a:srgbClr val="4B5563"/>
                </a:solidFill>
                <a:hlinkClick r:id="rId5"/>
              </a:rPr>
              <a:t> | www.skax.co.kr/en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SK — Vision/Inspection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페이지) SK AX는 제조 영역에서 디지털 기술을 기반으로 공장 자동화/지능화 수준을 개선해 품질 개선 및 생산 효율(핵심 성과지표)을 달성한다고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eng.sk.com/news/sk-accelerates-ai-transformation-in-manufacturing-with-ai-factory-powered-by-nvidia</a:t>
            </a:r>
            <a:r>
              <a:rPr sz="900">
                <a:solidFill>
                  <a:srgbClr val="4B5563"/>
                </a:solidFill>
                <a:hlinkClick r:id="rId4"/>
              </a:rPr>
              <a:t> | www.skax.co.kr/manufacturing</a:t>
            </a:r>
            <a:r>
              <a:rPr sz="900">
                <a:solidFill>
                  <a:srgbClr val="4B5563"/>
                </a:solidFill>
                <a:hlinkClick r:id="rId5"/>
              </a:rPr>
              <a:t> | www.skax.co.kr/en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SK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https://eng.sk.com/news/sk-accelerates-ai-transformation-in-manufacturing-with-ai-factory-powered-by-nvidia | https://www.skax.co.kr/manufacturing | https://www.skax.co.kr/en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Dense Matrix (summary → click for 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(포스코DX 공식) Smart Factory를 ‘생산현장 데이터를 실시간 수집·분석해 AI로 최적 제어’하는 것으로 설명하고, Digital Twin Factory(가상 공간 시뮬레이션/검증)로 확장한다는 서술.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(POSCO Newsroom, 2019) POSCO가 WEF에 의해 ‘Lighthouse Factory’로 선정됐으며 한국 기업 최초라고 서술.</a:t>
            </a:r>
          </a:p>
        </p:txBody>
      </p:sp>
      <p:sp>
        <p:nvSpPr>
          <p:cNvPr id="19" name="Rectangle 18">
            <a:hlinkClick action="ppaction://hlinksldjump" r:id="rId4"/>
          </p:cNvPr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자료) WEF가 POSCO에 대해 ‘AI를 활용해 철강 산업에서 생산성과 품질 개선을 추진’한다고 언급했다고 인용.</a:t>
            </a:r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 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POSCO DX는 Digital Twin을 “정확한 3D 모델을 가상 공간에 만들고 현실과 연결해 시뮬레이션하여 최적 의사결정을 지원”하는 기술로 정의.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>
            <a:hlinkClick action="ppaction://hlinksldjump" r:id="rId6"/>
          </p:cNvPr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 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(POSCO Newsroom) POSCO Pohang Works 스마트 고로 사례에서, 톤당 에너지 투입을 4kg 줄이고 일일 용선 생산량을 240톤 증가시켰다고 서술.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7"/>
              </a:rPr>
              <a:t>newsroom.posco.com/en/south-koreas-president-jae-in-moon-visits-posco-the-lighthouse-factory</a:t>
            </a:r>
            <a:r>
              <a:rPr sz="900">
                <a:solidFill>
                  <a:srgbClr val="4B5563"/>
                </a:solidFill>
                <a:hlinkClick r:id="rId8"/>
              </a:rPr>
              <a:t> | 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9"/>
              </a:rPr>
              <a:t> | www.poscodx.com/kor/business/smartFactory</a:t>
            </a:r>
            <a:r>
              <a:rPr sz="900">
                <a:solidFill>
                  <a:srgbClr val="4B5563"/>
                </a:solidFill>
                <a:hlinkClick r:id="rId10"/>
              </a:rPr>
              <a:t> | newsroom.posco.com/kr/%EB%93%B1%EB%8C%80%EA%B3%B5%EC%9E%A5-%ED%8A%B9%EC%A7%91-2-%EC%82%AC%EB%A1%80%ED%8E%B8</a:t>
            </a:r>
            <a:r>
              <a:rPr sz="900">
                <a:solidFill>
                  <a:srgbClr val="4B5563"/>
                </a:solidFill>
                <a:hlinkClick r:id="rId11"/>
              </a:rPr>
              <a:t> | www.poscodx.com/eng/business/smartFactory</a:t>
            </a:r>
            <a:r>
              <a:rPr sz="900">
                <a:solidFill>
                  <a:srgbClr val="4B5563"/>
                </a:solidFill>
                <a:hlinkClick r:id="rId12"/>
              </a:rPr>
              <a:t> | www.poscodx.com/eng/pr/newsRoomView.do?num=7080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(포스코DX 공식) Smart Factory를 ‘생산현장 데이터를 실시간 수집·분석해 AI로 최적 제어’하는 것으로 설명하고, Digital Twin Factory(가상 공간 시뮬레이션/검증)로 확장한다는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(포스코 뉴스룸) 포스프레임(PosFrame)을 ‘전 공장 데이터 수집·정형화’ 기반으로 설명하고, IoT/빅데이터/AI를 활용해 공정 조건 도출 및 공장 제어(스마트과제)를 추진한다고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POSCO DX는 생산현장 데이터의 실시간 수집과 Big Data 분석, AI를 통한 최적 제어를 통해 제조 생산성/품질 경쟁력 및 설비·에너지·안전 관리 기준을 개선한다고 설명.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POSCO DX는 Smart Technology 구성요소로 Sensing(IoT), Analyze(Data-Driven), AI Control(Intelligence, Optimal), Autonomous(3D Simulation, Interface; digital twin factory) 등을 제시.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포스코 뉴스룸에서 포스프레임(PosFrame) 기반 데이터 수집·정형화 + AI 공정 제어를 설명.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newsroom.posco.com/en/south-koreas-president-jae-in-moon-visits-posco-the-lighthouse-factory</a:t>
            </a:r>
            <a:r>
              <a:rPr sz="900">
                <a:solidFill>
                  <a:srgbClr val="4B5563"/>
                </a:solidFill>
                <a:hlinkClick r:id="rId4"/>
              </a:rPr>
              <a:t> | 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5"/>
              </a:rPr>
              <a:t> | www.poscodx.com/kor/business/smartFactory</a:t>
            </a:r>
            <a:r>
              <a:rPr sz="900">
                <a:solidFill>
                  <a:srgbClr val="4B5563"/>
                </a:solidFill>
                <a:hlinkClick r:id="rId6"/>
              </a:rPr>
              <a:t> | newsroom.posco.com/kr/%EB%93%B1%EB%8C%80%EA%B3%B5%EC%9E%A5-%ED%8A%B9%EC%A7%91-2-%EC%82%AC%EB%A1%80%ED%8E%B8</a:t>
            </a:r>
            <a:r>
              <a:rPr sz="900">
                <a:solidFill>
                  <a:srgbClr val="4B5563"/>
                </a:solidFill>
                <a:hlinkClick r:id="rId7"/>
              </a:rPr>
              <a:t> | www.poscodx.com/eng/business/smartFactory</a:t>
            </a:r>
            <a:r>
              <a:rPr sz="900">
                <a:solidFill>
                  <a:srgbClr val="4B5563"/>
                </a:solidFill>
                <a:hlinkClick r:id="rId8"/>
              </a:rPr>
              <a:t> | www.poscodx.com/eng/pr/newsRoomView.do?num=7080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(POSCO Newsroom, 2019) POSCO가 WEF에 의해 ‘Lighthouse Factory’로 선정됐으며 한국 기업 최초라고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(포스코DX 공식) 주요 레퍼런스로 ‘포스코 포항/광양 제철소 스마트팩토리’ 등을 명시.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POSCO DX는 서비스 영역으로 Smart Factory Consulting/Build/Operation을 제시.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(포스코DX 뉴스룸, 2025-07-11) POSCO Group이 AWS와 협력해 제조 AX(industrial sites AI 적용)를 추진하며, POSCO DX가 site-optimized AI agents 및 RAG 시스템 등 AI 기반 엔지니어링 자동화 플랫폼을 개발하고 AWS는 클라우드 인프라 환경에서 AI 애플리케이션을 제공한다고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newsroom.posco.com/en/south-koreas-president-jae-in-moon-visits-posco-the-lighthouse-factory</a:t>
            </a:r>
            <a:r>
              <a:rPr sz="900">
                <a:solidFill>
                  <a:srgbClr val="4B5563"/>
                </a:solidFill>
                <a:hlinkClick r:id="rId4"/>
              </a:rPr>
              <a:t> | 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5"/>
              </a:rPr>
              <a:t> | www.poscodx.com/kor/business/smartFactory</a:t>
            </a:r>
            <a:r>
              <a:rPr sz="900">
                <a:solidFill>
                  <a:srgbClr val="4B5563"/>
                </a:solidFill>
                <a:hlinkClick r:id="rId6"/>
              </a:rPr>
              <a:t> | newsroom.posco.com/kr/%EB%93%B1%EB%8C%80%EA%B3%B5%EC%9E%A5-%ED%8A%B9%EC%A7%91-2-%EC%82%AC%EB%A1%80%ED%8E%B8</a:t>
            </a:r>
            <a:r>
              <a:rPr sz="900">
                <a:solidFill>
                  <a:srgbClr val="4B5563"/>
                </a:solidFill>
                <a:hlinkClick r:id="rId7"/>
              </a:rPr>
              <a:t> | www.poscodx.com/eng/business/smartFactory</a:t>
            </a:r>
            <a:r>
              <a:rPr sz="900">
                <a:solidFill>
                  <a:srgbClr val="4B5563"/>
                </a:solidFill>
                <a:hlinkClick r:id="rId8"/>
              </a:rPr>
              <a:t> | www.poscodx.com/eng/pr/newsRoomView.do?num=7080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Data/AI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자료) WEF가 POSCO에 대해 ‘AI를 활용해 철강 산업에서 생산성과 품질 개선을 추진’한다고 언급했다고 인용.</a:t>
            </a:r>
          </a:p>
          <a:p>
            <a:pPr>
              <a:defRPr sz="1400">
                <a:solidFill>
                  <a:srgbClr val="B45309"/>
                </a:solidFill>
              </a:defRPr>
            </a:pPr>
            <a:r>
              <a:t>(Inference) 추정(근거 있음): 포스코 제철소 스마트팩토리 주관 수행사는 포스코DX 중심 + 공정/설비/AI 파트너 생태계 결합 형태일 가능성.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newsroom.posco.com/en/south-koreas-president-jae-in-moon-visits-posco-the-lighthouse-factory</a:t>
            </a:r>
            <a:r>
              <a:rPr sz="900">
                <a:solidFill>
                  <a:srgbClr val="4B5563"/>
                </a:solidFill>
                <a:hlinkClick r:id="rId4"/>
              </a:rPr>
              <a:t> | 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5"/>
              </a:rPr>
              <a:t> | www.poscodx.com/kor/business/smartFactory</a:t>
            </a:r>
            <a:r>
              <a:rPr sz="900">
                <a:solidFill>
                  <a:srgbClr val="4B5563"/>
                </a:solidFill>
                <a:hlinkClick r:id="rId6"/>
              </a:rPr>
              <a:t> | newsroom.posco.com/kr/%EB%93%B1%EB%8C%80%EA%B3%B5%EC%9E%A5-%ED%8A%B9%EC%A7%91-2-%EC%82%AC%EB%A1%80%ED%8E%B8</a:t>
            </a:r>
            <a:r>
              <a:rPr sz="900">
                <a:solidFill>
                  <a:srgbClr val="4B5563"/>
                </a:solidFill>
                <a:hlinkClick r:id="rId7"/>
              </a:rPr>
              <a:t> | www.poscodx.com/eng/business/smartFactory</a:t>
            </a:r>
            <a:r>
              <a:rPr sz="900">
                <a:solidFill>
                  <a:srgbClr val="4B5563"/>
                </a:solidFill>
                <a:hlinkClick r:id="rId8"/>
              </a:rPr>
              <a:t> | www.poscodx.com/eng/pr/newsRoomView.do?num=7080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Digital Twin/Sim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POSCO DX는 Digital Twin을 “정확한 3D 모델을 가상 공간에 만들고 현실과 연결해 시뮬레이션하여 최적 의사결정을 지원”하는 기술로 정의.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포스코DX가 Smart Factory/ Digital Twin Factory/ 레퍼런스를 공식 페이지에 명시(=핵심 수행사).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newsroom.posco.com/en/south-koreas-president-jae-in-moon-visits-posco-the-lighthouse-factory</a:t>
            </a:r>
            <a:r>
              <a:rPr sz="900">
                <a:solidFill>
                  <a:srgbClr val="4B5563"/>
                </a:solidFill>
                <a:hlinkClick r:id="rId4"/>
              </a:rPr>
              <a:t> | 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5"/>
              </a:rPr>
              <a:t> | www.poscodx.com/kor/business/smartFactory</a:t>
            </a:r>
            <a:r>
              <a:rPr sz="900">
                <a:solidFill>
                  <a:srgbClr val="4B5563"/>
                </a:solidFill>
                <a:hlinkClick r:id="rId6"/>
              </a:rPr>
              <a:t> | newsroom.posco.com/kr/%EB%93%B1%EB%8C%80%EA%B3%B5%EC%9E%A5-%ED%8A%B9%EC%A7%91-2-%EC%82%AC%EB%A1%80%ED%8E%B8</a:t>
            </a:r>
            <a:r>
              <a:rPr sz="900">
                <a:solidFill>
                  <a:srgbClr val="4B5563"/>
                </a:solidFill>
                <a:hlinkClick r:id="rId7"/>
              </a:rPr>
              <a:t> | www.poscodx.com/eng/business/smartFactory</a:t>
            </a:r>
            <a:r>
              <a:rPr sz="900">
                <a:solidFill>
                  <a:srgbClr val="4B5563"/>
                </a:solidFill>
                <a:hlinkClick r:id="rId8"/>
              </a:rPr>
              <a:t> | www.poscodx.com/eng/pr/newsRoomView.do?num=7080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KPI/Outcome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(POSCO Newsroom) POSCO Pohang Works 스마트 고로 사례에서, 톤당 에너지 투입을 4kg 줄이고 일일 용선 생산량을 240톤 증가시켰다고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기사) 2016~2019 기간 POSCO가 스마트팩토리 구축을 위해 321개 과제를 수행했고 총 2520억 원 비용 절감 결과를 언급.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newsroom.posco.com/en/south-koreas-president-jae-in-moon-visits-posco-the-lighthouse-factory</a:t>
            </a:r>
            <a:r>
              <a:rPr sz="900">
                <a:solidFill>
                  <a:srgbClr val="4B5563"/>
                </a:solidFill>
                <a:hlinkClick r:id="rId4"/>
              </a:rPr>
              <a:t> | newsroom.posco.com/en/posco-named-lighthouse-factory-by-world-economic-forum</a:t>
            </a:r>
            <a:r>
              <a:rPr sz="900">
                <a:solidFill>
                  <a:srgbClr val="4B5563"/>
                </a:solidFill>
                <a:hlinkClick r:id="rId5"/>
              </a:rPr>
              <a:t> | www.poscodx.com/kor/business/smartFactory</a:t>
            </a:r>
            <a:r>
              <a:rPr sz="900">
                <a:solidFill>
                  <a:srgbClr val="4B5563"/>
                </a:solidFill>
                <a:hlinkClick r:id="rId6"/>
              </a:rPr>
              <a:t> | newsroom.posco.com/kr/%EB%93%B1%EB%8C%80%EA%B3%B5%EC%9E%A5-%ED%8A%B9%EC%A7%91-2-%EC%82%AC%EB%A1%80%ED%8E%B8</a:t>
            </a:r>
            <a:r>
              <a:rPr sz="900">
                <a:solidFill>
                  <a:srgbClr val="4B5563"/>
                </a:solidFill>
                <a:hlinkClick r:id="rId7"/>
              </a:rPr>
              <a:t> | www.poscodx.com/eng/business/smartFactory</a:t>
            </a:r>
            <a:r>
              <a:rPr sz="900">
                <a:solidFill>
                  <a:srgbClr val="4B5563"/>
                </a:solidFill>
                <a:hlinkClick r:id="rId8"/>
              </a:rPr>
              <a:t> | www.poscodx.com/eng/pr/newsRoomView.do?num=7080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포스코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ESG/에너지 관련 사례 존재 (수치 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https://newsroom.posco.com/en/south-koreas-president-jae-in-moon-visits-posco-the-lighthouse-factory/ | https://newsroom.posco.com/en/posco-named-lighthouse-factory-by-world-economic-forum/ | https://www.poscodx.com/kor/business/smartFactory | https://newsroom.posco.com/kr/%EB%93%B1%EB%8C%80%EA%B3%B5%EC%9E%A5-%ED%8A%B9%EC%A7%91-2-%EC%82%AC%EB%A1%80%ED%8E%B8/ | https://www.poscodx.com/eng/business/smartFactory | https://www.poscodx.com/eng/pr/newsRoomView.do?num=7080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LS그룹 — Dense Matrix (summary → click for 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MES/PLM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813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541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HMI/SCADA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541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6164427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4155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IIoT/RTLS/Sensing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4155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(동 보도자료) 청주사업장 적용 기술 예시로 ▲IIoT 기반 자동 설비 모델 변경 ▲자율주행 사내 물류 로봇 ▲AI 기반 실시간 자동 용접 ▲머신러닝 기반 소음/진동 검사 등을 열거.</a:t>
            </a:r>
          </a:p>
        </p:txBody>
      </p:sp>
      <p:sp>
        <p:nvSpPr>
          <p:cNvPr id="13" name="Rectangle 12">
            <a:hlinkClick action="ppaction://hlinksldjump" r:id="rId3"/>
          </p:cNvPr>
          <p:cNvSpPr/>
          <p:nvPr/>
        </p:nvSpPr>
        <p:spPr>
          <a:xfrm>
            <a:off x="9018041" y="7772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769" y="8229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Connectivity(5G/Net)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7769" y="10789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(WEF 보고서 PDF) Global Lighthouse Network 목록에서 'LS ELECTRIC — Cheongju, Korea'를 등대공장으로 포함해 표시.</a:t>
            </a:r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457200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Cloud/Data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(LS홀딩스 보도자료) LS일렉트릭 청주 스마트공장이 2021 WEF ‘등대공장(Lighthouse Factory)’으로 선정됐다고 서술.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813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0541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Data/AI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541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427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4155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Digital Twin/Sim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155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8041" y="22059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7769" y="22517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Robot/AMR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769" y="25077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Vision/Inspection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1" name="Rectangle 30">
            <a:hlinkClick action="ppaction://hlinksldjump" r:id="rId5"/>
          </p:cNvPr>
          <p:cNvSpPr/>
          <p:nvPr/>
        </p:nvSpPr>
        <p:spPr>
          <a:xfrm>
            <a:off x="3310813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0541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Energy/FEMS/ESG 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541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11827"/>
                </a:solidFill>
              </a:defRPr>
            </a:pPr>
            <a:r>
              <a:t>(F) (Microsoft Customer Story) LS ELECTRIC이 생산 라인별 에너지 사용량 모니터링을 통해 일부 제조 라인에서 전력 소비를 약 20% 줄였다고 서술.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4155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4155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8041" y="363474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368046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OT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7769" y="393649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Test/Metrology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813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0541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Ops/Workflow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0541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4427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4155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Integration(ERP)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4155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8041" y="5063490"/>
            <a:ext cx="2716453" cy="129159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7769" y="5109210"/>
            <a:ext cx="249699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1B4D"/>
                </a:solidFill>
              </a:rPr>
              <a:t>KPI/Outcome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7769" y="5365242"/>
            <a:ext cx="2496997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6"/>
              </a:rPr>
              <a:t>www.microsoft.com/en/customers/story/1787232539191932705-ls-electric-microsoft-cloud-for-manufacturing-discrete-manufacturing-en-korea</a:t>
            </a:r>
            <a:r>
              <a:rPr sz="900">
                <a:solidFill>
                  <a:srgbClr val="4B5563"/>
                </a:solidFill>
                <a:hlinkClick r:id="rId7"/>
              </a:rPr>
              <a:t> | www3.weforum.org/docs/WEF_Global_Lighthouse_Network_Unlocking_Sustainability_Through_4IR.pdf</a:t>
            </a:r>
            <a:r>
              <a:rPr sz="900">
                <a:solidFill>
                  <a:srgbClr val="4B5563"/>
                </a:solidFill>
                <a:hlinkClick r:id="rId8"/>
              </a:rPr>
              <a:t>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LS그룹 — IIoT/RTLS/Sensing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청주사업장 적용 기술 예시로 ▲IIoT 기반 자동 설비 모델 변경 ▲자율주행 사내 물류 로봇 ▲AI 기반 실시간 자동 용접 ▲머신러닝 기반 소음/진동 검사 등을 열거.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www.microsoft.com/en/customers/story/1787232539191932705-ls-electric-microsoft-cloud-for-manufacturing-discrete-manufacturing-en-korea</a:t>
            </a:r>
            <a:r>
              <a:rPr sz="900">
                <a:solidFill>
                  <a:srgbClr val="4B5563"/>
                </a:solidFill>
                <a:hlinkClick r:id="rId4"/>
              </a:rPr>
              <a:t> | www3.weforum.org/docs/WEF_Global_Lighthouse_Network_Unlocking_Sustainability_Through_4IR.pdf</a:t>
            </a:r>
            <a:r>
              <a:rPr sz="900">
                <a:solidFill>
                  <a:srgbClr val="4B5563"/>
                </a:solidFill>
                <a:hlinkClick r:id="rId5"/>
              </a:rPr>
              <a:t>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LS그룹 — Connectivity(5G/Net)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(WEF 보고서 PDF) Global Lighthouse Network 목록에서 'LS ELECTRIC — Cheongju, Korea'를 등대공장으로 포함해 표시.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www.microsoft.com/en/customers/story/1787232539191932705-ls-electric-microsoft-cloud-for-manufacturing-discrete-manufacturing-en-korea</a:t>
            </a:r>
            <a:r>
              <a:rPr sz="900">
                <a:solidFill>
                  <a:srgbClr val="4B5563"/>
                </a:solidFill>
                <a:hlinkClick r:id="rId4"/>
              </a:rPr>
              <a:t> | www3.weforum.org/docs/WEF_Global_Lighthouse_Network_Unlocking_Sustainability_Through_4IR.pdf</a:t>
            </a:r>
            <a:r>
              <a:rPr sz="900">
                <a:solidFill>
                  <a:srgbClr val="4B5563"/>
                </a:solidFill>
                <a:hlinkClick r:id="rId5"/>
              </a:rPr>
              <a:t>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LS그룹 — Cloud/Data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(LS홀딩스 보도자료) LS일렉트릭 청주 스마트공장이 2021 WEF ‘등대공장(Lighthouse Factory)’으로 선정됐다고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(Microsoft Customer Story) LS ELECTRIC이 Sight Machine 및 Microsoft와 협력해 Microsoft Cloud for Manufacturing 기반으로 제조 데이터/에너지 최적화를 추진한다고 서술.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(Fact) (LS홀딩스 보도자료 기준) LS일렉트릭이 자체 EMS(에너지관리솔루션) 개발/적용을 언급.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www.microsoft.com/en/customers/story/1787232539191932705-ls-electric-microsoft-cloud-for-manufacturing-discrete-manufacturing-en-korea</a:t>
            </a:r>
            <a:r>
              <a:rPr sz="900">
                <a:solidFill>
                  <a:srgbClr val="4B5563"/>
                </a:solidFill>
                <a:hlinkClick r:id="rId4"/>
              </a:rPr>
              <a:t> | www3.weforum.org/docs/WEF_Global_Lighthouse_Network_Unlocking_Sustainability_Through_4IR.pdf</a:t>
            </a:r>
            <a:r>
              <a:rPr sz="900">
                <a:solidFill>
                  <a:srgbClr val="4B5563"/>
                </a:solidFill>
                <a:hlinkClick r:id="rId5"/>
              </a:rPr>
              <a:t>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LS그룹 — Energy/FEMS/ESG (detail)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11535" cy="544068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1827"/>
                </a:solidFill>
              </a:defRPr>
            </a:pPr>
            <a:r>
              <a:t>(Fact) (Microsoft Customer Story) LS ELECTRIC이 생산 라인별 에너지 사용량 모니터링을 통해 일부 제조 라인에서 전력 소비를 약 20% 줄였다고 서술.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(Fact) (동 보도자료) WEF는 LS일렉트릭 청주 전력기기 스마트 생산 공장의 ‘유연성’과 ‘생산 효율화를 통한 원가절감’ 및 ‘EMS를 자체 개발/공장 적용해 에너지 효율을 높인 성과’를 평가했다고 서술.</a:t>
            </a:r>
          </a:p>
        </p:txBody>
      </p:sp>
      <p:sp>
        <p:nvSpPr>
          <p:cNvPr id="6" name="TextBox 5">
            <a:hlinkClick action="ppaction://hlinksldjump" r:id="rId2"/>
          </p:cNvPr>
          <p:cNvSpPr txBox="1"/>
          <p:nvPr/>
        </p:nvSpPr>
        <p:spPr>
          <a:xfrm>
            <a:off x="10881360" y="137160"/>
            <a:ext cx="1097280" cy="36576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↩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Sources: </a:t>
            </a:r>
            <a:r>
              <a:rPr sz="900">
                <a:solidFill>
                  <a:srgbClr val="4B5563"/>
                </a:solidFill>
                <a:hlinkClick r:id="rId3"/>
              </a:rPr>
              <a:t>www.microsoft.com/en/customers/story/1787232539191932705-ls-electric-microsoft-cloud-for-manufacturing-discrete-manufacturing-en-korea</a:t>
            </a:r>
            <a:r>
              <a:rPr sz="900">
                <a:solidFill>
                  <a:srgbClr val="4B5563"/>
                </a:solidFill>
                <a:hlinkClick r:id="rId4"/>
              </a:rPr>
              <a:t> | www3.weforum.org/docs/WEF_Global_Lighthouse_Network_Unlocking_Sustainability_Through_4IR.pdf</a:t>
            </a:r>
            <a:r>
              <a:rPr sz="900">
                <a:solidFill>
                  <a:srgbClr val="4B5563"/>
                </a:solidFill>
                <a:hlinkClick r:id="rId5"/>
              </a:rPr>
              <a:t>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LS그룹 — KPI Snapshot (P/Q/A/E)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11535" cy="512064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3327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3327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Productivity/Leadtime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1343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Quality (Defect/Rework)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비전/AI 품질검사 도입 (수치 TBD)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Asset (OEE/Downtime/PHM)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TBD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914400" cy="128016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73752"/>
            <a:ext cx="731520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73752"/>
            <a:ext cx="9768535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1B4D"/>
                </a:solidFill>
              </a:defRPr>
            </a:pPr>
            <a:r>
              <a:t>Energy/ESG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ESG/에너지 관련 사례 존재 (수치 TBD)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Sources: https://www.microsoft.com/en/customers/story/1787232539191932705-ls-electric-microsoft-cloud-for-manufacturing-discrete-manufacturing-en-korea | https://www3.weforum.org/docs/WEF_Global_Lighthouse_Network_Unlocking_Sustainability_Through_4IR.pdf | https://www.lsholdings.com/ko/media/news/385a523443424b4f5556485338745a73366346453871474d547866346b57776f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